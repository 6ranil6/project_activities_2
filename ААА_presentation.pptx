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AA80C038-F70F-463E-A867-ECFF924B53E6}">
  <a:tblStyle styleId="{AA80C038-F70F-463E-A867-ECFF924B53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6"/>
  </p:normalViewPr>
  <p:slideViewPr>
    <p:cSldViewPr snapToGrid="0">
      <p:cViewPr varScale="1">
        <p:scale>
          <a:sx n="161" d="100"/>
          <a:sy n="161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F72817A5-034A-4937-BFDA-1B1086058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2CEB905A-EDFB-4EA2-B1A3-DCBF456E9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1733E4F4-2B2F-40CE-B6F6-1230867936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3D679D9D-6FD4-4A66-8220-A5D5D5FA5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723B3254-D61F-4A51-8E65-9E44D9D2B3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474FF279-4722-4FF0-A470-0174408F8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5CD60B81-9AA1-4655-97C9-97236EFD1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E5E043E6-E170-490F-AB2A-F068E89CB3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F0ECA0A0-3B18-4BB2-BE52-ED1686CB9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9C615114-0424-4C9E-8737-B5D1F33FE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CDD18497-73A6-442D-89E7-6BD86BC579A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F54CDFA6-FED9-4F62-86C1-96156807AA4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B8CF02C0-6024-4F05-90BA-EAE0D7375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F3CF4D87-6FAC-410B-BB68-D01D60848DA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2F07155B-5E9B-45DF-A42E-5ED6B6AC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48648B43-1F43-4F2D-90F0-8070E70F0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22F22376-556A-4495-8B1F-FEFDC3F852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AF3584B9-7719-4A4F-AF51-C604A3842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1DE5C72D-D9E2-4EC9-9F4A-1909FFECE8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3933DCA5-0512-4C06-AEAC-624263106D3E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BDF1841A-1BBB-4B97-8593-1057DDB81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C532155E-D1DE-4C84-98D9-979B63222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980BE01D-6F95-4E94-A49F-3607425E8AA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69EFCBE3-E1F2-4EF0-A5E8-D4CF5D1C97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9BE2ADD3-FA95-4696-B86E-2C117E4C2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919D0C82-7076-45EE-80E3-B3F1855CA8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13CCFF95-6B6F-4D5A-9F00-61A763EEDB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9512A4C2-5D58-4E69-B28C-FA62B90FD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8EAE385B-DDDF-47D7-8025-72288CB5272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39BC79DE-87FC-4864-895A-15FF9BD8BF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82C4645F-2A55-4E18-B9C6-24EBE4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C1F0864B-821A-4466-9C75-8D63D45EF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5035CEB1-E773-4E9C-BD8D-6E19411C6BE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>
            <a:extLst>
              <a:ext uri="{FF2B5EF4-FFF2-40B4-BE49-F238E27FC236}">
                <a16:creationId xmlns:a16="http://schemas.microsoft.com/office/drawing/2014/main" id="{ED9F56D6-1031-4E6D-8B86-E98F3D23DDB9}"/>
              </a:ext>
            </a:extLst>
          </p:cNvPr>
          <p:cNvSpPr>
            <a:spLocks noGrp="1"/>
          </p:cNvSpPr>
          <p:nvPr/>
        </p:nvSpPr>
        <p:spPr>
          <a:xfrm>
            <a:off x="731525" y="1717750"/>
            <a:ext cx="8245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Генерация описаний </a:t>
            </a:r>
            <a:r>
              <a:rPr sz="3800" b="1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для объявлений</a:t>
            </a:r>
          </a:p>
        </p:txBody>
      </p:sp>
      <p:cxnSp>
        <p:nvCxnSpPr>
          <p:cNvPr id="58" name="Google Shape;58;p15"/>
          <p:cNvCxnSpPr/>
          <p:nvPr/>
        </p:nvCxnSpPr>
        <p:spPr>
          <a:xfrm>
            <a:off x="731520" y="2571747"/>
            <a:ext cx="2194500" cy="0"/>
          </a:xfrm>
          <a:prstGeom prst="straightConnector1">
            <a:avLst/>
          </a:prstGeom>
          <a:ln w="25400" cap="flat">
            <a:solidFill>
              <a:srgbClr val="97E05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15">
            <a:extLst>
              <a:ext uri="{FF2B5EF4-FFF2-40B4-BE49-F238E27FC236}">
                <a16:creationId xmlns:a16="http://schemas.microsoft.com/office/drawing/2014/main" id="{C3753673-AD9A-4308-B19B-07278FBA54D3}"/>
              </a:ext>
            </a:extLst>
          </p:cNvPr>
          <p:cNvSpPr>
            <a:spLocks noGrp="1"/>
          </p:cNvSpPr>
          <p:nvPr/>
        </p:nvSpPr>
        <p:spPr>
          <a:xfrm>
            <a:off x="731525" y="2694352"/>
            <a:ext cx="7772400" cy="22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Ханенко Даниил, </a:t>
            </a: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Хаялиев Раниль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ru-RU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5A7AB0"/>
                </a:solidFill>
                <a:latin typeface="Calibri"/>
                <a:ea typeface="Calibri"/>
                <a:cs typeface="Calibr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789796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>
            <a:extLst>
              <a:ext uri="{FF2B5EF4-FFF2-40B4-BE49-F238E27FC236}">
                <a16:creationId xmlns:a16="http://schemas.microsoft.com/office/drawing/2014/main" id="{6A0A3022-A7D1-48F6-A4E8-86EE6AB4EAD6}"/>
              </a:ext>
            </a:extLst>
          </p:cNvPr>
          <p:cNvSpPr>
            <a:spLocks noGrp="1"/>
          </p:cNvSpPr>
          <p:nvPr/>
        </p:nvSpPr>
        <p:spPr>
          <a:xfrm>
            <a:off x="320040" y="246888"/>
            <a:ext cx="54864" cy="42062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6">
            <a:extLst>
              <a:ext uri="{FF2B5EF4-FFF2-40B4-BE49-F238E27FC236}">
                <a16:creationId xmlns:a16="http://schemas.microsoft.com/office/drawing/2014/main" id="{9EAB0F2E-D11F-44B5-B0D4-1B604FCC73C5}"/>
              </a:ext>
            </a:extLst>
          </p:cNvPr>
          <p:cNvSpPr>
            <a:spLocks noGrp="1"/>
          </p:cNvSpPr>
          <p:nvPr/>
        </p:nvSpPr>
        <p:spPr>
          <a:xfrm>
            <a:off x="457200" y="201168"/>
            <a:ext cx="8366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Постановка задачи</a:t>
            </a:r>
          </a:p>
        </p:txBody>
      </p:sp>
      <p:sp>
        <p:nvSpPr>
          <p:cNvPr id="68" name="Google Shape;68;p16">
            <a:extLst>
              <a:ext uri="{FF2B5EF4-FFF2-40B4-BE49-F238E27FC236}">
                <a16:creationId xmlns:a16="http://schemas.microsoft.com/office/drawing/2014/main" id="{5CAB3369-5A85-4D84-9E32-6F485056C25D}"/>
              </a:ext>
            </a:extLst>
          </p:cNvPr>
          <p:cNvSpPr>
            <a:spLocks noGrp="1"/>
          </p:cNvSpPr>
          <p:nvPr/>
        </p:nvSpPr>
        <p:spPr>
          <a:xfrm>
            <a:off x="365760" y="85039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69" name="Google Shape;69;p16">
            <a:extLst>
              <a:ext uri="{FF2B5EF4-FFF2-40B4-BE49-F238E27FC236}">
                <a16:creationId xmlns:a16="http://schemas.microsoft.com/office/drawing/2014/main" id="{D7060599-07AD-40D5-92FE-5D6DB40FCB7E}"/>
              </a:ext>
            </a:extLst>
          </p:cNvPr>
          <p:cNvSpPr>
            <a:spLocks noGrp="1"/>
          </p:cNvSpPr>
          <p:nvPr/>
        </p:nvSpPr>
        <p:spPr>
          <a:xfrm>
            <a:off x="365750" y="1170429"/>
            <a:ext cx="4350600" cy="30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родавцы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на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Авито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часто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пишут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описания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плохо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коротко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без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деталей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или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же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просто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знают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что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там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написать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Мы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учим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модель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автоматически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генерировать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качественный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текст</a:t>
            </a:r>
            <a:r>
              <a:rPr sz="1600" b="0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cap="none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Необходимо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создать решение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котор</a:t>
            </a:r>
            <a:r>
              <a:rPr lang="ru-RU"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ое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по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заголовку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входным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параметрам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будет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генерировать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описание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объявления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Дополнительно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-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нужно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придумать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как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модель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добавлять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информацию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с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картинок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которые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были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приложены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к </a:t>
            </a:r>
            <a:r>
              <a:rPr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объявлению</a:t>
            </a:r>
            <a:r>
              <a:rPr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0F9E7EAC-10F7-4AC4-997D-C224DD6C2230}"/>
              </a:ext>
            </a:extLst>
          </p:cNvPr>
          <p:cNvSpPr>
            <a:spLocks noGrp="1"/>
          </p:cNvSpPr>
          <p:nvPr/>
        </p:nvSpPr>
        <p:spPr>
          <a:xfrm>
            <a:off x="4892040" y="804672"/>
            <a:ext cx="3520440" cy="640080"/>
          </a:xfrm>
          <a:prstGeom prst="rect">
            <a:avLst/>
          </a:prstGeom>
          <a:solidFill>
            <a:srgbClr val="EBF0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C758332C-036A-469A-BED9-91F82458ECC8}"/>
              </a:ext>
            </a:extLst>
          </p:cNvPr>
          <p:cNvSpPr>
            <a:spLocks noGrp="1"/>
          </p:cNvSpPr>
          <p:nvPr/>
        </p:nvSpPr>
        <p:spPr>
          <a:xfrm>
            <a:off x="5029200" y="80467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📝  Заголовок объявления</a:t>
            </a:r>
          </a:p>
        </p:txBody>
      </p:sp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9507AC95-BC7E-4F64-84C6-F0C0401C51A2}"/>
              </a:ext>
            </a:extLst>
          </p:cNvPr>
          <p:cNvSpPr>
            <a:spLocks noGrp="1"/>
          </p:cNvSpPr>
          <p:nvPr/>
        </p:nvSpPr>
        <p:spPr>
          <a:xfrm>
            <a:off x="4892040" y="1563624"/>
            <a:ext cx="3520440" cy="640080"/>
          </a:xfrm>
          <a:prstGeom prst="rect">
            <a:avLst/>
          </a:prstGeom>
          <a:solidFill>
            <a:srgbClr val="EBF0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42731E49-64CE-4189-B5D0-FFDFC138E335}"/>
              </a:ext>
            </a:extLst>
          </p:cNvPr>
          <p:cNvSpPr>
            <a:spLocks noGrp="1"/>
          </p:cNvSpPr>
          <p:nvPr/>
        </p:nvSpPr>
        <p:spPr>
          <a:xfrm>
            <a:off x="5029200" y="1563624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⚙️  Структурированные параметры</a:t>
            </a:r>
          </a:p>
        </p:txBody>
      </p:sp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51DF95AF-4009-42E0-94B9-B6834D22F2B8}"/>
              </a:ext>
            </a:extLst>
          </p:cNvPr>
          <p:cNvSpPr>
            <a:spLocks noGrp="1"/>
          </p:cNvSpPr>
          <p:nvPr/>
        </p:nvSpPr>
        <p:spPr>
          <a:xfrm>
            <a:off x="4892040" y="2322576"/>
            <a:ext cx="3520440" cy="640080"/>
          </a:xfrm>
          <a:prstGeom prst="rect">
            <a:avLst/>
          </a:prstGeom>
          <a:solidFill>
            <a:srgbClr val="EBF0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A68B1150-053E-4A0C-A542-E69B94C102B5}"/>
              </a:ext>
            </a:extLst>
          </p:cNvPr>
          <p:cNvSpPr>
            <a:spLocks noGrp="1"/>
          </p:cNvSpPr>
          <p:nvPr/>
        </p:nvSpPr>
        <p:spPr>
          <a:xfrm>
            <a:off x="5029200" y="2322576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🖼️  Фотография товара</a:t>
            </a:r>
          </a:p>
        </p:txBody>
      </p:sp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8345AEB-5CA3-434C-978F-A691BA22F273}"/>
              </a:ext>
            </a:extLst>
          </p:cNvPr>
          <p:cNvSpPr>
            <a:spLocks noGrp="1"/>
          </p:cNvSpPr>
          <p:nvPr/>
        </p:nvSpPr>
        <p:spPr>
          <a:xfrm>
            <a:off x="5029190" y="3948613"/>
            <a:ext cx="3520500" cy="640200"/>
          </a:xfrm>
          <a:prstGeom prst="rect">
            <a:avLst/>
          </a:prstGeom>
          <a:solidFill>
            <a:srgbClr val="0D1B4B"/>
          </a:solidFill>
          <a:ln w="12700" cmpd="sng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6C443DD8-FACA-4D12-B925-17382E2F78B6}"/>
              </a:ext>
            </a:extLst>
          </p:cNvPr>
          <p:cNvSpPr>
            <a:spLocks noGrp="1"/>
          </p:cNvSpPr>
          <p:nvPr/>
        </p:nvSpPr>
        <p:spPr>
          <a:xfrm>
            <a:off x="5143500" y="3948625"/>
            <a:ext cx="3291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✨  Описание в стиле Авито</a:t>
            </a:r>
          </a:p>
        </p:txBody>
      </p:sp>
      <p:cxnSp>
        <p:nvCxnSpPr>
          <p:cNvPr id="78" name="Google Shape;78;p16"/>
          <p:cNvCxnSpPr/>
          <p:nvPr/>
        </p:nvCxnSpPr>
        <p:spPr>
          <a:xfrm>
            <a:off x="6652270" y="2962656"/>
            <a:ext cx="0" cy="985800"/>
          </a:xfrm>
          <a:prstGeom prst="straightConnector1">
            <a:avLst/>
          </a:prstGeom>
          <a:ln w="9525" cap="flat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1446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>
            <a:extLst>
              <a:ext uri="{FF2B5EF4-FFF2-40B4-BE49-F238E27FC236}">
                <a16:creationId xmlns:a16="http://schemas.microsoft.com/office/drawing/2014/main" id="{4B720AD6-7AE8-4EB6-9D7E-273C4A5DB96E}"/>
              </a:ext>
            </a:extLst>
          </p:cNvPr>
          <p:cNvSpPr>
            <a:spLocks noGrp="1"/>
          </p:cNvSpPr>
          <p:nvPr/>
        </p:nvSpPr>
        <p:spPr>
          <a:xfrm>
            <a:off x="320040" y="246888"/>
            <a:ext cx="54864" cy="42062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7">
            <a:extLst>
              <a:ext uri="{FF2B5EF4-FFF2-40B4-BE49-F238E27FC236}">
                <a16:creationId xmlns:a16="http://schemas.microsoft.com/office/drawing/2014/main" id="{C5D1F1B4-A59F-4537-A869-995470EEDFB9}"/>
              </a:ext>
            </a:extLst>
          </p:cNvPr>
          <p:cNvSpPr>
            <a:spLocks noGrp="1"/>
          </p:cNvSpPr>
          <p:nvPr/>
        </p:nvSpPr>
        <p:spPr>
          <a:xfrm>
            <a:off x="457200" y="201168"/>
            <a:ext cx="8366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Исходные данные</a:t>
            </a:r>
          </a:p>
        </p:txBody>
      </p:sp>
      <p:sp>
        <p:nvSpPr>
          <p:cNvPr id="86" name="Google Shape;86;p17">
            <a:extLst>
              <a:ext uri="{FF2B5EF4-FFF2-40B4-BE49-F238E27FC236}">
                <a16:creationId xmlns:a16="http://schemas.microsoft.com/office/drawing/2014/main" id="{51794FF9-5F30-4141-8146-E2D5AA952A17}"/>
              </a:ext>
            </a:extLst>
          </p:cNvPr>
          <p:cNvSpPr>
            <a:spLocks noGrp="1"/>
          </p:cNvSpPr>
          <p:nvPr/>
        </p:nvSpPr>
        <p:spPr>
          <a:xfrm>
            <a:off x="320040" y="804672"/>
            <a:ext cx="2697480" cy="132588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>
            <a:extLst>
              <a:ext uri="{FF2B5EF4-FFF2-40B4-BE49-F238E27FC236}">
                <a16:creationId xmlns:a16="http://schemas.microsoft.com/office/drawing/2014/main" id="{707C3B12-303E-4F86-B4C2-0FF04DA0DB31}"/>
              </a:ext>
            </a:extLst>
          </p:cNvPr>
          <p:cNvSpPr>
            <a:spLocks noGrp="1"/>
          </p:cNvSpPr>
          <p:nvPr/>
        </p:nvSpPr>
        <p:spPr>
          <a:xfrm>
            <a:off x="320040" y="804672"/>
            <a:ext cx="2697480" cy="64008"/>
          </a:xfrm>
          <a:prstGeom prst="rect">
            <a:avLst/>
          </a:prstGeom>
          <a:solidFill>
            <a:srgbClr val="0D1B4B"/>
          </a:solidFill>
          <a:ln w="12700" cmpd="sng">
            <a:solidFill>
              <a:srgbClr val="0D1B4B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7">
            <a:extLst>
              <a:ext uri="{FF2B5EF4-FFF2-40B4-BE49-F238E27FC236}">
                <a16:creationId xmlns:a16="http://schemas.microsoft.com/office/drawing/2014/main" id="{D406EEF7-D6C5-4D8B-9BE5-EB4B260D22D7}"/>
              </a:ext>
            </a:extLst>
          </p:cNvPr>
          <p:cNvSpPr>
            <a:spLocks noGrp="1"/>
          </p:cNvSpPr>
          <p:nvPr/>
        </p:nvSpPr>
        <p:spPr>
          <a:xfrm>
            <a:off x="320040" y="868680"/>
            <a:ext cx="2697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rgbClr val="0D1B4B"/>
                </a:solidFill>
                <a:latin typeface="Calibri"/>
                <a:ea typeface="Calibri"/>
                <a:cs typeface="Calibri"/>
              </a:rPr>
              <a:t>300 341</a:t>
            </a:r>
          </a:p>
        </p:txBody>
      </p:sp>
      <p:sp>
        <p:nvSpPr>
          <p:cNvPr id="89" name="Google Shape;89;p17">
            <a:extLst>
              <a:ext uri="{FF2B5EF4-FFF2-40B4-BE49-F238E27FC236}">
                <a16:creationId xmlns:a16="http://schemas.microsoft.com/office/drawing/2014/main" id="{56DD9207-9A37-429B-B519-3B961186AAD6}"/>
              </a:ext>
            </a:extLst>
          </p:cNvPr>
          <p:cNvSpPr>
            <a:spLocks noGrp="1"/>
          </p:cNvSpPr>
          <p:nvPr/>
        </p:nvSpPr>
        <p:spPr>
          <a:xfrm>
            <a:off x="411480" y="1508760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объявлений с Авито</a:t>
            </a:r>
          </a:p>
        </p:txBody>
      </p:sp>
      <p:sp>
        <p:nvSpPr>
          <p:cNvPr id="90" name="Google Shape;90;p17">
            <a:extLst>
              <a:ext uri="{FF2B5EF4-FFF2-40B4-BE49-F238E27FC236}">
                <a16:creationId xmlns:a16="http://schemas.microsoft.com/office/drawing/2014/main" id="{10E7B975-69ED-4239-B22E-6A74277AA663}"/>
              </a:ext>
            </a:extLst>
          </p:cNvPr>
          <p:cNvSpPr>
            <a:spLocks noGrp="1"/>
          </p:cNvSpPr>
          <p:nvPr/>
        </p:nvSpPr>
        <p:spPr>
          <a:xfrm>
            <a:off x="3200400" y="804672"/>
            <a:ext cx="2697480" cy="132588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">
            <a:extLst>
              <a:ext uri="{FF2B5EF4-FFF2-40B4-BE49-F238E27FC236}">
                <a16:creationId xmlns:a16="http://schemas.microsoft.com/office/drawing/2014/main" id="{3E2C444A-BF35-4A07-B62A-8D7943C14A9E}"/>
              </a:ext>
            </a:extLst>
          </p:cNvPr>
          <p:cNvSpPr>
            <a:spLocks noGrp="1"/>
          </p:cNvSpPr>
          <p:nvPr/>
        </p:nvSpPr>
        <p:spPr>
          <a:xfrm>
            <a:off x="3200400" y="804672"/>
            <a:ext cx="2697480" cy="64008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7">
            <a:extLst>
              <a:ext uri="{FF2B5EF4-FFF2-40B4-BE49-F238E27FC236}">
                <a16:creationId xmlns:a16="http://schemas.microsoft.com/office/drawing/2014/main" id="{97503694-D1DD-4B4B-B701-743646C30CCF}"/>
              </a:ext>
            </a:extLst>
          </p:cNvPr>
          <p:cNvSpPr>
            <a:spLocks noGrp="1"/>
          </p:cNvSpPr>
          <p:nvPr/>
        </p:nvSpPr>
        <p:spPr>
          <a:xfrm>
            <a:off x="3200400" y="868680"/>
            <a:ext cx="2697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262 000</a:t>
            </a:r>
          </a:p>
        </p:txBody>
      </p:sp>
      <p:sp>
        <p:nvSpPr>
          <p:cNvPr id="93" name="Google Shape;93;p17">
            <a:extLst>
              <a:ext uri="{FF2B5EF4-FFF2-40B4-BE49-F238E27FC236}">
                <a16:creationId xmlns:a16="http://schemas.microsoft.com/office/drawing/2014/main" id="{1953B00E-C3EB-4429-A520-15A4E34E4FC1}"/>
              </a:ext>
            </a:extLst>
          </p:cNvPr>
          <p:cNvSpPr>
            <a:spLocks noGrp="1"/>
          </p:cNvSpPr>
          <p:nvPr/>
        </p:nvSpPr>
        <p:spPr>
          <a:xfrm>
            <a:off x="3291840" y="1508760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фотографий товаров</a:t>
            </a:r>
          </a:p>
        </p:txBody>
      </p:sp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9AF91BA8-7104-4261-9B33-47DF7B534C67}"/>
              </a:ext>
            </a:extLst>
          </p:cNvPr>
          <p:cNvSpPr>
            <a:spLocks noGrp="1"/>
          </p:cNvSpPr>
          <p:nvPr/>
        </p:nvSpPr>
        <p:spPr>
          <a:xfrm>
            <a:off x="6080760" y="804672"/>
            <a:ext cx="2697480" cy="132588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5F7CB8B1-B473-4E95-A288-05529D3A989A}"/>
              </a:ext>
            </a:extLst>
          </p:cNvPr>
          <p:cNvSpPr>
            <a:spLocks noGrp="1"/>
          </p:cNvSpPr>
          <p:nvPr/>
        </p:nvSpPr>
        <p:spPr>
          <a:xfrm>
            <a:off x="6080760" y="804672"/>
            <a:ext cx="2697480" cy="64008"/>
          </a:xfrm>
          <a:prstGeom prst="rect">
            <a:avLst/>
          </a:prstGeom>
          <a:solidFill>
            <a:srgbClr val="3D7A0A"/>
          </a:solidFill>
          <a:ln w="12700" cmpd="sng">
            <a:solidFill>
              <a:srgbClr val="3D7A0A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7">
            <a:extLst>
              <a:ext uri="{FF2B5EF4-FFF2-40B4-BE49-F238E27FC236}">
                <a16:creationId xmlns:a16="http://schemas.microsoft.com/office/drawing/2014/main" id="{05E0F218-51A3-4FDC-A2A9-4C938A6D5E7E}"/>
              </a:ext>
            </a:extLst>
          </p:cNvPr>
          <p:cNvSpPr>
            <a:spLocks noGrp="1"/>
          </p:cNvSpPr>
          <p:nvPr/>
        </p:nvSpPr>
        <p:spPr>
          <a:xfrm>
            <a:off x="6080760" y="868680"/>
            <a:ext cx="2697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rgbClr val="3D7A0A"/>
                </a:solidFill>
                <a:latin typeface="Calibri"/>
                <a:ea typeface="Calibri"/>
                <a:cs typeface="Calibri"/>
              </a:rPr>
              <a:t>3 603</a:t>
            </a:r>
          </a:p>
        </p:txBody>
      </p:sp>
      <p:sp>
        <p:nvSpPr>
          <p:cNvPr id="97" name="Google Shape;97;p17">
            <a:extLst>
              <a:ext uri="{FF2B5EF4-FFF2-40B4-BE49-F238E27FC236}">
                <a16:creationId xmlns:a16="http://schemas.microsoft.com/office/drawing/2014/main" id="{82F17613-A4DE-445B-9123-2CBF89D424F8}"/>
              </a:ext>
            </a:extLst>
          </p:cNvPr>
          <p:cNvSpPr>
            <a:spLocks noGrp="1"/>
          </p:cNvSpPr>
          <p:nvPr/>
        </p:nvSpPr>
        <p:spPr>
          <a:xfrm>
            <a:off x="6172200" y="1508760"/>
            <a:ext cx="2514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позиций в справочнике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микрокатегорий</a:t>
            </a:r>
          </a:p>
        </p:txBody>
      </p:sp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C1E9A1DF-094C-46FB-A1D8-C111187EF25B}"/>
              </a:ext>
            </a:extLst>
          </p:cNvPr>
          <p:cNvSpPr>
            <a:spLocks noGrp="1"/>
          </p:cNvSpPr>
          <p:nvPr/>
        </p:nvSpPr>
        <p:spPr>
          <a:xfrm>
            <a:off x="365760" y="2331720"/>
            <a:ext cx="8412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8 товарных категорий после фильтрации</a:t>
            </a:r>
          </a:p>
        </p:txBody>
      </p:sp>
      <p:sp>
        <p:nvSpPr>
          <p:cNvPr id="99" name="Google Shape;99;p17">
            <a:extLst>
              <a:ext uri="{FF2B5EF4-FFF2-40B4-BE49-F238E27FC236}">
                <a16:creationId xmlns:a16="http://schemas.microsoft.com/office/drawing/2014/main" id="{55C2EE61-5BBA-4001-B620-1B24D00583E6}"/>
              </a:ext>
            </a:extLst>
          </p:cNvPr>
          <p:cNvSpPr>
            <a:spLocks noGrp="1"/>
          </p:cNvSpPr>
          <p:nvPr/>
        </p:nvSpPr>
        <p:spPr>
          <a:xfrm>
            <a:off x="320040" y="2743200"/>
            <a:ext cx="4160520" cy="384048"/>
          </a:xfrm>
          <a:prstGeom prst="rect">
            <a:avLst/>
          </a:prstGeom>
          <a:solidFill>
            <a:srgbClr val="EBF0FF"/>
          </a:solidFill>
          <a:ln w="12700" cmpd="sng">
            <a:solidFill>
              <a:srgbClr val="DDE3EF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>
            <a:extLst>
              <a:ext uri="{FF2B5EF4-FFF2-40B4-BE49-F238E27FC236}">
                <a16:creationId xmlns:a16="http://schemas.microsoft.com/office/drawing/2014/main" id="{EE44AF8F-743B-444D-8369-FCB300263ADC}"/>
              </a:ext>
            </a:extLst>
          </p:cNvPr>
          <p:cNvSpPr>
            <a:spLocks noGrp="1"/>
          </p:cNvSpPr>
          <p:nvPr/>
        </p:nvSpPr>
        <p:spPr>
          <a:xfrm>
            <a:off x="429768" y="274320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Транспорт</a:t>
            </a:r>
          </a:p>
        </p:txBody>
      </p:sp>
      <p:sp>
        <p:nvSpPr>
          <p:cNvPr id="101" name="Google Shape;101;p17">
            <a:extLst>
              <a:ext uri="{FF2B5EF4-FFF2-40B4-BE49-F238E27FC236}">
                <a16:creationId xmlns:a16="http://schemas.microsoft.com/office/drawing/2014/main" id="{F156AAC4-2922-4A8B-9957-D66A4EFCE0E7}"/>
              </a:ext>
            </a:extLst>
          </p:cNvPr>
          <p:cNvSpPr>
            <a:spLocks noGrp="1"/>
          </p:cNvSpPr>
          <p:nvPr/>
        </p:nvSpPr>
        <p:spPr>
          <a:xfrm>
            <a:off x="3246120" y="27432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42.1%</a:t>
            </a:r>
          </a:p>
        </p:txBody>
      </p:sp>
      <p:sp>
        <p:nvSpPr>
          <p:cNvPr id="102" name="Google Shape;102;p17">
            <a:extLst>
              <a:ext uri="{FF2B5EF4-FFF2-40B4-BE49-F238E27FC236}">
                <a16:creationId xmlns:a16="http://schemas.microsoft.com/office/drawing/2014/main" id="{38042AAE-5942-4B4E-92EC-215BA8A6A074}"/>
              </a:ext>
            </a:extLst>
          </p:cNvPr>
          <p:cNvSpPr>
            <a:spLocks noGrp="1"/>
          </p:cNvSpPr>
          <p:nvPr/>
        </p:nvSpPr>
        <p:spPr>
          <a:xfrm>
            <a:off x="4663440" y="2743200"/>
            <a:ext cx="4160520" cy="384048"/>
          </a:xfrm>
          <a:prstGeom prst="rect">
            <a:avLst/>
          </a:prstGeom>
          <a:solidFill>
            <a:srgbClr val="EBF0FF"/>
          </a:solidFill>
          <a:ln w="12700" cmpd="sng">
            <a:solidFill>
              <a:srgbClr val="DDE3EF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>
            <a:extLst>
              <a:ext uri="{FF2B5EF4-FFF2-40B4-BE49-F238E27FC236}">
                <a16:creationId xmlns:a16="http://schemas.microsoft.com/office/drawing/2014/main" id="{840DF9B2-F072-4B68-BB26-53EEC8C33E3F}"/>
              </a:ext>
            </a:extLst>
          </p:cNvPr>
          <p:cNvSpPr>
            <a:spLocks noGrp="1"/>
          </p:cNvSpPr>
          <p:nvPr/>
        </p:nvSpPr>
        <p:spPr>
          <a:xfrm>
            <a:off x="4773168" y="274320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Для дома и дачи</a:t>
            </a:r>
          </a:p>
        </p:txBody>
      </p:sp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142F597E-05D9-44B4-B886-80330D70A743}"/>
              </a:ext>
            </a:extLst>
          </p:cNvPr>
          <p:cNvSpPr>
            <a:spLocks noGrp="1"/>
          </p:cNvSpPr>
          <p:nvPr/>
        </p:nvSpPr>
        <p:spPr>
          <a:xfrm>
            <a:off x="7589520" y="27432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19.3%</a:t>
            </a:r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D2D6C817-79B7-41B7-A263-4518EF9C2ECD}"/>
              </a:ext>
            </a:extLst>
          </p:cNvPr>
          <p:cNvSpPr>
            <a:spLocks noGrp="1"/>
          </p:cNvSpPr>
          <p:nvPr/>
        </p:nvSpPr>
        <p:spPr>
          <a:xfrm>
            <a:off x="320040" y="3236976"/>
            <a:ext cx="4160520" cy="384048"/>
          </a:xfrm>
          <a:prstGeom prst="rect">
            <a:avLst/>
          </a:prstGeom>
          <a:solidFill>
            <a:srgbClr val="EBF0FF"/>
          </a:solidFill>
          <a:ln w="12700" cmpd="sng">
            <a:solidFill>
              <a:srgbClr val="DDE3EF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7">
            <a:extLst>
              <a:ext uri="{FF2B5EF4-FFF2-40B4-BE49-F238E27FC236}">
                <a16:creationId xmlns:a16="http://schemas.microsoft.com/office/drawing/2014/main" id="{ACBDD604-BDAE-46AF-8513-3DE65A42DCD0}"/>
              </a:ext>
            </a:extLst>
          </p:cNvPr>
          <p:cNvSpPr>
            <a:spLocks noGrp="1"/>
          </p:cNvSpPr>
          <p:nvPr/>
        </p:nvSpPr>
        <p:spPr>
          <a:xfrm>
            <a:off x="429768" y="3236976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Личные вещи</a:t>
            </a:r>
          </a:p>
        </p:txBody>
      </p:sp>
      <p:sp>
        <p:nvSpPr>
          <p:cNvPr id="107" name="Google Shape;107;p17">
            <a:extLst>
              <a:ext uri="{FF2B5EF4-FFF2-40B4-BE49-F238E27FC236}">
                <a16:creationId xmlns:a16="http://schemas.microsoft.com/office/drawing/2014/main" id="{548A9CE2-F83C-4365-AFD9-ECEB04D5D054}"/>
              </a:ext>
            </a:extLst>
          </p:cNvPr>
          <p:cNvSpPr>
            <a:spLocks noGrp="1"/>
          </p:cNvSpPr>
          <p:nvPr/>
        </p:nvSpPr>
        <p:spPr>
          <a:xfrm>
            <a:off x="3246120" y="323697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17.8%</a:t>
            </a:r>
          </a:p>
        </p:txBody>
      </p:sp>
      <p:sp>
        <p:nvSpPr>
          <p:cNvPr id="108" name="Google Shape;108;p17">
            <a:extLst>
              <a:ext uri="{FF2B5EF4-FFF2-40B4-BE49-F238E27FC236}">
                <a16:creationId xmlns:a16="http://schemas.microsoft.com/office/drawing/2014/main" id="{B125820A-76F0-4A1E-91BF-3EEC008651DE}"/>
              </a:ext>
            </a:extLst>
          </p:cNvPr>
          <p:cNvSpPr>
            <a:spLocks noGrp="1"/>
          </p:cNvSpPr>
          <p:nvPr/>
        </p:nvSpPr>
        <p:spPr>
          <a:xfrm>
            <a:off x="4663440" y="3236976"/>
            <a:ext cx="4160520" cy="384048"/>
          </a:xfrm>
          <a:prstGeom prst="rect">
            <a:avLst/>
          </a:prstGeom>
          <a:solidFill>
            <a:srgbClr val="EBF0FF"/>
          </a:solidFill>
          <a:ln w="12700" cmpd="sng">
            <a:solidFill>
              <a:srgbClr val="DDE3EF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7">
            <a:extLst>
              <a:ext uri="{FF2B5EF4-FFF2-40B4-BE49-F238E27FC236}">
                <a16:creationId xmlns:a16="http://schemas.microsoft.com/office/drawing/2014/main" id="{5B063213-6FDA-444A-BA23-41EFFF6659B4}"/>
              </a:ext>
            </a:extLst>
          </p:cNvPr>
          <p:cNvSpPr>
            <a:spLocks noGrp="1"/>
          </p:cNvSpPr>
          <p:nvPr/>
        </p:nvSpPr>
        <p:spPr>
          <a:xfrm>
            <a:off x="4773168" y="3236976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Электроника</a:t>
            </a:r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DEA88D63-4D84-4C5C-BD8E-049F6BF49E5F}"/>
              </a:ext>
            </a:extLst>
          </p:cNvPr>
          <p:cNvSpPr>
            <a:spLocks noGrp="1"/>
          </p:cNvSpPr>
          <p:nvPr/>
        </p:nvSpPr>
        <p:spPr>
          <a:xfrm>
            <a:off x="7589520" y="323697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6.7%</a:t>
            </a:r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4B313B38-54BE-4BC9-8D53-7BBE9673905A}"/>
              </a:ext>
            </a:extLst>
          </p:cNvPr>
          <p:cNvSpPr>
            <a:spLocks noGrp="1"/>
          </p:cNvSpPr>
          <p:nvPr/>
        </p:nvSpPr>
        <p:spPr>
          <a:xfrm>
            <a:off x="320040" y="3730752"/>
            <a:ext cx="4160520" cy="384048"/>
          </a:xfrm>
          <a:prstGeom prst="rect">
            <a:avLst/>
          </a:prstGeom>
          <a:solidFill>
            <a:srgbClr val="EBF0FF"/>
          </a:solidFill>
          <a:ln w="12700" cmpd="sng">
            <a:solidFill>
              <a:srgbClr val="DDE3EF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B5F823E0-7B6D-48E6-ABEE-D5078EE137FF}"/>
              </a:ext>
            </a:extLst>
          </p:cNvPr>
          <p:cNvSpPr>
            <a:spLocks noGrp="1"/>
          </p:cNvSpPr>
          <p:nvPr/>
        </p:nvSpPr>
        <p:spPr>
          <a:xfrm>
            <a:off x="429768" y="373075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Хобби и отдых</a:t>
            </a:r>
          </a:p>
        </p:txBody>
      </p:sp>
      <p:sp>
        <p:nvSpPr>
          <p:cNvPr id="113" name="Google Shape;113;p17">
            <a:extLst>
              <a:ext uri="{FF2B5EF4-FFF2-40B4-BE49-F238E27FC236}">
                <a16:creationId xmlns:a16="http://schemas.microsoft.com/office/drawing/2014/main" id="{7342A70F-2CD1-46CA-B7D5-2AE8B0DD35F3}"/>
              </a:ext>
            </a:extLst>
          </p:cNvPr>
          <p:cNvSpPr>
            <a:spLocks noGrp="1"/>
          </p:cNvSpPr>
          <p:nvPr/>
        </p:nvSpPr>
        <p:spPr>
          <a:xfrm>
            <a:off x="3246120" y="3730752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5.7%</a:t>
            </a:r>
          </a:p>
        </p:txBody>
      </p:sp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D0250F16-C32D-4293-9382-190ADB3B119F}"/>
              </a:ext>
            </a:extLst>
          </p:cNvPr>
          <p:cNvSpPr>
            <a:spLocks noGrp="1"/>
          </p:cNvSpPr>
          <p:nvPr/>
        </p:nvSpPr>
        <p:spPr>
          <a:xfrm>
            <a:off x="4663440" y="3730752"/>
            <a:ext cx="4160520" cy="384048"/>
          </a:xfrm>
          <a:prstGeom prst="rect">
            <a:avLst/>
          </a:prstGeom>
          <a:solidFill>
            <a:srgbClr val="EBF0FF"/>
          </a:solidFill>
          <a:ln w="12700" cmpd="sng">
            <a:solidFill>
              <a:srgbClr val="DDE3EF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514A72A6-CF69-4E7A-BF93-8F9E3333B028}"/>
              </a:ext>
            </a:extLst>
          </p:cNvPr>
          <p:cNvSpPr>
            <a:spLocks noGrp="1"/>
          </p:cNvSpPr>
          <p:nvPr/>
        </p:nvSpPr>
        <p:spPr>
          <a:xfrm>
            <a:off x="4773168" y="373075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Оборудование для бизнеса</a:t>
            </a:r>
          </a:p>
        </p:txBody>
      </p:sp>
      <p:sp>
        <p:nvSpPr>
          <p:cNvPr id="116" name="Google Shape;116;p17">
            <a:extLst>
              <a:ext uri="{FF2B5EF4-FFF2-40B4-BE49-F238E27FC236}">
                <a16:creationId xmlns:a16="http://schemas.microsoft.com/office/drawing/2014/main" id="{06C90BFC-1505-425D-9F44-9CE87199E119}"/>
              </a:ext>
            </a:extLst>
          </p:cNvPr>
          <p:cNvSpPr>
            <a:spLocks noGrp="1"/>
          </p:cNvSpPr>
          <p:nvPr/>
        </p:nvSpPr>
        <p:spPr>
          <a:xfrm>
            <a:off x="7589520" y="3730752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4.8%</a:t>
            </a:r>
          </a:p>
        </p:txBody>
      </p:sp>
      <p:sp>
        <p:nvSpPr>
          <p:cNvPr id="117" name="Google Shape;117;p17">
            <a:extLst>
              <a:ext uri="{FF2B5EF4-FFF2-40B4-BE49-F238E27FC236}">
                <a16:creationId xmlns:a16="http://schemas.microsoft.com/office/drawing/2014/main" id="{EE2EF608-E001-4184-A49A-611BCF4933CC}"/>
              </a:ext>
            </a:extLst>
          </p:cNvPr>
          <p:cNvSpPr>
            <a:spLocks noGrp="1"/>
          </p:cNvSpPr>
          <p:nvPr/>
        </p:nvSpPr>
        <p:spPr>
          <a:xfrm>
            <a:off x="320040" y="4224528"/>
            <a:ext cx="4160520" cy="384048"/>
          </a:xfrm>
          <a:prstGeom prst="rect">
            <a:avLst/>
          </a:prstGeom>
          <a:solidFill>
            <a:srgbClr val="EBF0FF"/>
          </a:solidFill>
          <a:ln w="12700" cmpd="sng">
            <a:solidFill>
              <a:srgbClr val="DDE3EF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>
            <a:extLst>
              <a:ext uri="{FF2B5EF4-FFF2-40B4-BE49-F238E27FC236}">
                <a16:creationId xmlns:a16="http://schemas.microsoft.com/office/drawing/2014/main" id="{DF63E406-8C85-46F1-8EAE-08A34715B3E9}"/>
              </a:ext>
            </a:extLst>
          </p:cNvPr>
          <p:cNvSpPr>
            <a:spLocks noGrp="1"/>
          </p:cNvSpPr>
          <p:nvPr/>
        </p:nvSpPr>
        <p:spPr>
          <a:xfrm>
            <a:off x="429768" y="4224528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Недвижимость</a:t>
            </a:r>
          </a:p>
        </p:txBody>
      </p:sp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1A4C2D65-7D82-460B-96E7-7699519BCE5E}"/>
              </a:ext>
            </a:extLst>
          </p:cNvPr>
          <p:cNvSpPr>
            <a:spLocks noGrp="1"/>
          </p:cNvSpPr>
          <p:nvPr/>
        </p:nvSpPr>
        <p:spPr>
          <a:xfrm>
            <a:off x="3246120" y="4224528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2.6%</a:t>
            </a:r>
          </a:p>
        </p:txBody>
      </p:sp>
      <p:sp>
        <p:nvSpPr>
          <p:cNvPr id="120" name="Google Shape;120;p17">
            <a:extLst>
              <a:ext uri="{FF2B5EF4-FFF2-40B4-BE49-F238E27FC236}">
                <a16:creationId xmlns:a16="http://schemas.microsoft.com/office/drawing/2014/main" id="{60D62AF2-728D-4304-901E-302D3D7771E7}"/>
              </a:ext>
            </a:extLst>
          </p:cNvPr>
          <p:cNvSpPr>
            <a:spLocks noGrp="1"/>
          </p:cNvSpPr>
          <p:nvPr/>
        </p:nvSpPr>
        <p:spPr>
          <a:xfrm>
            <a:off x="4663440" y="4224528"/>
            <a:ext cx="4160520" cy="384048"/>
          </a:xfrm>
          <a:prstGeom prst="rect">
            <a:avLst/>
          </a:prstGeom>
          <a:solidFill>
            <a:srgbClr val="EBF0FF"/>
          </a:solidFill>
          <a:ln w="12700" cmpd="sng">
            <a:solidFill>
              <a:srgbClr val="DDE3EF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7">
            <a:extLst>
              <a:ext uri="{FF2B5EF4-FFF2-40B4-BE49-F238E27FC236}">
                <a16:creationId xmlns:a16="http://schemas.microsoft.com/office/drawing/2014/main" id="{EEDA6A63-60EE-429E-AF22-8BD2D05A1DCA}"/>
              </a:ext>
            </a:extLst>
          </p:cNvPr>
          <p:cNvSpPr>
            <a:spLocks noGrp="1"/>
          </p:cNvSpPr>
          <p:nvPr/>
        </p:nvSpPr>
        <p:spPr>
          <a:xfrm>
            <a:off x="4773168" y="4224528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Животные</a:t>
            </a:r>
          </a:p>
        </p:txBody>
      </p:sp>
      <p:sp>
        <p:nvSpPr>
          <p:cNvPr id="122" name="Google Shape;122;p17">
            <a:extLst>
              <a:ext uri="{FF2B5EF4-FFF2-40B4-BE49-F238E27FC236}">
                <a16:creationId xmlns:a16="http://schemas.microsoft.com/office/drawing/2014/main" id="{F5B9591C-B8A4-4A20-9BED-8F3EB166DD37}"/>
              </a:ext>
            </a:extLst>
          </p:cNvPr>
          <p:cNvSpPr>
            <a:spLocks noGrp="1"/>
          </p:cNvSpPr>
          <p:nvPr/>
        </p:nvSpPr>
        <p:spPr>
          <a:xfrm>
            <a:off x="7589520" y="4224528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1.0%</a:t>
            </a:r>
          </a:p>
        </p:txBody>
      </p:sp>
    </p:spTree>
    <p:extLst>
      <p:ext uri="{BB962C8B-B14F-4D97-AF65-F5344CB8AC3E}">
        <p14:creationId xmlns:p14="http://schemas.microsoft.com/office/powerpoint/2010/main" val="1580591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>
            <a:extLst>
              <a:ext uri="{FF2B5EF4-FFF2-40B4-BE49-F238E27FC236}">
                <a16:creationId xmlns:a16="http://schemas.microsoft.com/office/drawing/2014/main" id="{347F279A-7FB2-43F9-BDCC-871EC43AB6D6}"/>
              </a:ext>
            </a:extLst>
          </p:cNvPr>
          <p:cNvSpPr>
            <a:spLocks noGrp="1"/>
          </p:cNvSpPr>
          <p:nvPr/>
        </p:nvSpPr>
        <p:spPr>
          <a:xfrm>
            <a:off x="320040" y="246888"/>
            <a:ext cx="54864" cy="42062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59F8D3CC-8706-4BD2-86E2-BE605A08CB2A}"/>
              </a:ext>
            </a:extLst>
          </p:cNvPr>
          <p:cNvSpPr>
            <a:spLocks noGrp="1"/>
          </p:cNvSpPr>
          <p:nvPr/>
        </p:nvSpPr>
        <p:spPr>
          <a:xfrm>
            <a:off x="457200" y="201168"/>
            <a:ext cx="8366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Воронка фильтров: F0 – F8</a:t>
            </a:r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88AF522D-F49C-4D16-8F3C-8980FB644372}"/>
              </a:ext>
            </a:extLst>
          </p:cNvPr>
          <p:cNvSpPr>
            <a:spLocks noGrp="1"/>
          </p:cNvSpPr>
          <p:nvPr/>
        </p:nvSpPr>
        <p:spPr>
          <a:xfrm>
            <a:off x="320040" y="822960"/>
            <a:ext cx="7863840" cy="438912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>
            <a:extLst>
              <a:ext uri="{FF2B5EF4-FFF2-40B4-BE49-F238E27FC236}">
                <a16:creationId xmlns:a16="http://schemas.microsoft.com/office/drawing/2014/main" id="{2CCADC60-8220-45D1-9514-9D47411CF58F}"/>
              </a:ext>
            </a:extLst>
          </p:cNvPr>
          <p:cNvSpPr>
            <a:spLocks noGrp="1"/>
          </p:cNvSpPr>
          <p:nvPr/>
        </p:nvSpPr>
        <p:spPr>
          <a:xfrm>
            <a:off x="411480" y="822960"/>
            <a:ext cx="5943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97E05F"/>
                </a:solidFill>
                <a:latin typeface="Calibri"/>
                <a:ea typeface="Calibri"/>
                <a:cs typeface="Calibri"/>
              </a:rPr>
              <a:t>F0</a:t>
            </a:r>
          </a:p>
        </p:txBody>
      </p:sp>
      <p:sp>
        <p:nvSpPr>
          <p:cNvPr id="132" name="Google Shape;132;p18">
            <a:extLst>
              <a:ext uri="{FF2B5EF4-FFF2-40B4-BE49-F238E27FC236}">
                <a16:creationId xmlns:a16="http://schemas.microsoft.com/office/drawing/2014/main" id="{DEB255CB-3C05-4AEF-8F2A-B745470C7D58}"/>
              </a:ext>
            </a:extLst>
          </p:cNvPr>
          <p:cNvSpPr>
            <a:spLocks noGrp="1"/>
          </p:cNvSpPr>
          <p:nvPr/>
        </p:nvSpPr>
        <p:spPr>
          <a:xfrm>
            <a:off x="1069848" y="822960"/>
            <a:ext cx="5943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Есть фотография</a:t>
            </a:r>
          </a:p>
        </p:txBody>
      </p:sp>
      <p:sp>
        <p:nvSpPr>
          <p:cNvPr id="133" name="Google Shape;133;p18">
            <a:extLst>
              <a:ext uri="{FF2B5EF4-FFF2-40B4-BE49-F238E27FC236}">
                <a16:creationId xmlns:a16="http://schemas.microsoft.com/office/drawing/2014/main" id="{95BB469B-0016-4496-ACF6-A16BAA7B8565}"/>
              </a:ext>
            </a:extLst>
          </p:cNvPr>
          <p:cNvSpPr>
            <a:spLocks noGrp="1"/>
          </p:cNvSpPr>
          <p:nvPr/>
        </p:nvSpPr>
        <p:spPr>
          <a:xfrm>
            <a:off x="6949440" y="822960"/>
            <a:ext cx="11430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97E05F"/>
                </a:solidFill>
                <a:latin typeface="Calibri"/>
                <a:ea typeface="Calibri"/>
                <a:cs typeface="Calibri"/>
              </a:rPr>
              <a:t>300 341</a:t>
            </a:r>
          </a:p>
        </p:txBody>
      </p:sp>
      <p:sp>
        <p:nvSpPr>
          <p:cNvPr id="134" name="Google Shape;134;p18">
            <a:extLst>
              <a:ext uri="{FF2B5EF4-FFF2-40B4-BE49-F238E27FC236}">
                <a16:creationId xmlns:a16="http://schemas.microsoft.com/office/drawing/2014/main" id="{FC053A40-325D-45AE-8844-B989871F900A}"/>
              </a:ext>
            </a:extLst>
          </p:cNvPr>
          <p:cNvSpPr>
            <a:spLocks noGrp="1"/>
          </p:cNvSpPr>
          <p:nvPr/>
        </p:nvSpPr>
        <p:spPr>
          <a:xfrm>
            <a:off x="583479" y="1293876"/>
            <a:ext cx="7336963" cy="438912"/>
          </a:xfrm>
          <a:prstGeom prst="rect">
            <a:avLst/>
          </a:prstGeom>
          <a:solidFill>
            <a:srgbClr val="0D1B4B"/>
          </a:solidFill>
          <a:ln w="12700" cmpd="sng">
            <a:solidFill>
              <a:srgbClr val="0D1B4B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">
            <a:extLst>
              <a:ext uri="{FF2B5EF4-FFF2-40B4-BE49-F238E27FC236}">
                <a16:creationId xmlns:a16="http://schemas.microsoft.com/office/drawing/2014/main" id="{6B12C684-4441-4DF0-9240-84876EE9057D}"/>
              </a:ext>
            </a:extLst>
          </p:cNvPr>
          <p:cNvSpPr>
            <a:spLocks noGrp="1"/>
          </p:cNvSpPr>
          <p:nvPr/>
        </p:nvSpPr>
        <p:spPr>
          <a:xfrm>
            <a:off x="674919" y="1293876"/>
            <a:ext cx="5943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97E05F"/>
                </a:solidFill>
                <a:latin typeface="Calibri"/>
                <a:ea typeface="Calibri"/>
                <a:cs typeface="Calibri"/>
              </a:rPr>
              <a:t>F1</a:t>
            </a:r>
          </a:p>
        </p:txBody>
      </p:sp>
      <p:sp>
        <p:nvSpPr>
          <p:cNvPr id="136" name="Google Shape;136;p18">
            <a:extLst>
              <a:ext uri="{FF2B5EF4-FFF2-40B4-BE49-F238E27FC236}">
                <a16:creationId xmlns:a16="http://schemas.microsoft.com/office/drawing/2014/main" id="{55B36A6C-B040-4A1D-B84F-B79460D6DA95}"/>
              </a:ext>
            </a:extLst>
          </p:cNvPr>
          <p:cNvSpPr>
            <a:spLocks noGrp="1"/>
          </p:cNvSpPr>
          <p:nvPr/>
        </p:nvSpPr>
        <p:spPr>
          <a:xfrm>
            <a:off x="1333287" y="1293876"/>
            <a:ext cx="5416723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Есть описание товара</a:t>
            </a:r>
          </a:p>
        </p:txBody>
      </p:sp>
      <p:sp>
        <p:nvSpPr>
          <p:cNvPr id="137" name="Google Shape;137;p18">
            <a:extLst>
              <a:ext uri="{FF2B5EF4-FFF2-40B4-BE49-F238E27FC236}">
                <a16:creationId xmlns:a16="http://schemas.microsoft.com/office/drawing/2014/main" id="{78D3FF1B-F648-430B-968B-8142E082FB98}"/>
              </a:ext>
            </a:extLst>
          </p:cNvPr>
          <p:cNvSpPr>
            <a:spLocks noGrp="1"/>
          </p:cNvSpPr>
          <p:nvPr/>
        </p:nvSpPr>
        <p:spPr>
          <a:xfrm>
            <a:off x="846917" y="1764792"/>
            <a:ext cx="6810085" cy="438912"/>
          </a:xfrm>
          <a:prstGeom prst="rect">
            <a:avLst/>
          </a:prstGeom>
          <a:solidFill>
            <a:srgbClr val="0D1B4B"/>
          </a:solidFill>
          <a:ln w="12700" cmpd="sng">
            <a:solidFill>
              <a:srgbClr val="0D1B4B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>
            <a:extLst>
              <a:ext uri="{FF2B5EF4-FFF2-40B4-BE49-F238E27FC236}">
                <a16:creationId xmlns:a16="http://schemas.microsoft.com/office/drawing/2014/main" id="{B1506556-C7B9-4B4F-B833-EC40ECF1286C}"/>
              </a:ext>
            </a:extLst>
          </p:cNvPr>
          <p:cNvSpPr>
            <a:spLocks noGrp="1"/>
          </p:cNvSpPr>
          <p:nvPr/>
        </p:nvSpPr>
        <p:spPr>
          <a:xfrm>
            <a:off x="938357" y="1764792"/>
            <a:ext cx="5943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97E05F"/>
                </a:solidFill>
                <a:latin typeface="Calibri"/>
                <a:ea typeface="Calibri"/>
                <a:cs typeface="Calibri"/>
              </a:rPr>
              <a:t>F2/3</a:t>
            </a:r>
          </a:p>
        </p:txBody>
      </p:sp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20E3627A-9004-4C86-B888-D6056C2CF06A}"/>
              </a:ext>
            </a:extLst>
          </p:cNvPr>
          <p:cNvSpPr>
            <a:spLocks noGrp="1"/>
          </p:cNvSpPr>
          <p:nvPr/>
        </p:nvSpPr>
        <p:spPr>
          <a:xfrm>
            <a:off x="1596725" y="1764792"/>
            <a:ext cx="4889845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Длина описания: 10 – 548 слов</a:t>
            </a:r>
          </a:p>
        </p:txBody>
      </p:sp>
      <p:sp>
        <p:nvSpPr>
          <p:cNvPr id="140" name="Google Shape;140;p18">
            <a:extLst>
              <a:ext uri="{FF2B5EF4-FFF2-40B4-BE49-F238E27FC236}">
                <a16:creationId xmlns:a16="http://schemas.microsoft.com/office/drawing/2014/main" id="{A050A380-544D-445D-A8A2-8C876283554E}"/>
              </a:ext>
            </a:extLst>
          </p:cNvPr>
          <p:cNvSpPr>
            <a:spLocks noGrp="1"/>
          </p:cNvSpPr>
          <p:nvPr/>
        </p:nvSpPr>
        <p:spPr>
          <a:xfrm>
            <a:off x="1110356" y="2235708"/>
            <a:ext cx="6283208" cy="438912"/>
          </a:xfrm>
          <a:prstGeom prst="rect">
            <a:avLst/>
          </a:prstGeom>
          <a:solidFill>
            <a:srgbClr val="0D1B4B"/>
          </a:solidFill>
          <a:ln w="12700" cmpd="sng">
            <a:solidFill>
              <a:srgbClr val="0D1B4B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8">
            <a:extLst>
              <a:ext uri="{FF2B5EF4-FFF2-40B4-BE49-F238E27FC236}">
                <a16:creationId xmlns:a16="http://schemas.microsoft.com/office/drawing/2014/main" id="{8D9D2174-4496-4F3E-9304-5DF076ACDDDE}"/>
              </a:ext>
            </a:extLst>
          </p:cNvPr>
          <p:cNvSpPr>
            <a:spLocks noGrp="1"/>
          </p:cNvSpPr>
          <p:nvPr/>
        </p:nvSpPr>
        <p:spPr>
          <a:xfrm>
            <a:off x="1201796" y="2235708"/>
            <a:ext cx="5943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97E05F"/>
                </a:solidFill>
                <a:latin typeface="Calibri"/>
                <a:ea typeface="Calibri"/>
                <a:cs typeface="Calibri"/>
              </a:rPr>
              <a:t>F4</a:t>
            </a:r>
          </a:p>
        </p:txBody>
      </p:sp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4CB7F2B3-DE18-470C-8F20-9DBD222285D2}"/>
              </a:ext>
            </a:extLst>
          </p:cNvPr>
          <p:cNvSpPr>
            <a:spLocks noGrp="1"/>
          </p:cNvSpPr>
          <p:nvPr/>
        </p:nvSpPr>
        <p:spPr>
          <a:xfrm>
            <a:off x="1860164" y="2235708"/>
            <a:ext cx="43629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Цена больше нуля</a:t>
            </a:r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BACB80A4-512C-4377-AD5B-310CB6326687}"/>
              </a:ext>
            </a:extLst>
          </p:cNvPr>
          <p:cNvSpPr>
            <a:spLocks noGrp="1"/>
          </p:cNvSpPr>
          <p:nvPr/>
        </p:nvSpPr>
        <p:spPr>
          <a:xfrm>
            <a:off x="1373795" y="2706624"/>
            <a:ext cx="5756331" cy="438912"/>
          </a:xfrm>
          <a:prstGeom prst="rect">
            <a:avLst/>
          </a:prstGeom>
          <a:solidFill>
            <a:srgbClr val="0D1B4B"/>
          </a:solidFill>
          <a:ln w="12700" cmpd="sng">
            <a:solidFill>
              <a:srgbClr val="0D1B4B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>
            <a:extLst>
              <a:ext uri="{FF2B5EF4-FFF2-40B4-BE49-F238E27FC236}">
                <a16:creationId xmlns:a16="http://schemas.microsoft.com/office/drawing/2014/main" id="{B8A81524-06D3-4027-B883-88CEE42D8D87}"/>
              </a:ext>
            </a:extLst>
          </p:cNvPr>
          <p:cNvSpPr>
            <a:spLocks noGrp="1"/>
          </p:cNvSpPr>
          <p:nvPr/>
        </p:nvSpPr>
        <p:spPr>
          <a:xfrm>
            <a:off x="1465235" y="2706624"/>
            <a:ext cx="5943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97E05F"/>
                </a:solidFill>
                <a:latin typeface="Calibri"/>
                <a:ea typeface="Calibri"/>
                <a:cs typeface="Calibri"/>
              </a:rPr>
              <a:t>F5</a:t>
            </a:r>
          </a:p>
        </p:txBody>
      </p:sp>
      <p:sp>
        <p:nvSpPr>
          <p:cNvPr id="145" name="Google Shape;145;p18">
            <a:extLst>
              <a:ext uri="{FF2B5EF4-FFF2-40B4-BE49-F238E27FC236}">
                <a16:creationId xmlns:a16="http://schemas.microsoft.com/office/drawing/2014/main" id="{0E543CDD-064D-46D4-80D9-3A4276EF8A3B}"/>
              </a:ext>
            </a:extLst>
          </p:cNvPr>
          <p:cNvSpPr>
            <a:spLocks noGrp="1"/>
          </p:cNvSpPr>
          <p:nvPr/>
        </p:nvSpPr>
        <p:spPr>
          <a:xfrm>
            <a:off x="2123603" y="2706624"/>
            <a:ext cx="3836091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Нет контактов в тексте</a:t>
            </a:r>
          </a:p>
        </p:txBody>
      </p:sp>
      <p:sp>
        <p:nvSpPr>
          <p:cNvPr id="146" name="Google Shape;146;p18">
            <a:extLst>
              <a:ext uri="{FF2B5EF4-FFF2-40B4-BE49-F238E27FC236}">
                <a16:creationId xmlns:a16="http://schemas.microsoft.com/office/drawing/2014/main" id="{6220DBC4-73BD-4DC1-94B9-FBD74F9DAB73}"/>
              </a:ext>
            </a:extLst>
          </p:cNvPr>
          <p:cNvSpPr>
            <a:spLocks noGrp="1"/>
          </p:cNvSpPr>
          <p:nvPr/>
        </p:nvSpPr>
        <p:spPr>
          <a:xfrm>
            <a:off x="1637233" y="3177540"/>
            <a:ext cx="5229454" cy="438912"/>
          </a:xfrm>
          <a:prstGeom prst="rect">
            <a:avLst/>
          </a:prstGeom>
          <a:solidFill>
            <a:srgbClr val="0D1B4B"/>
          </a:solidFill>
          <a:ln w="12700" cmpd="sng">
            <a:solidFill>
              <a:srgbClr val="0D1B4B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">
            <a:extLst>
              <a:ext uri="{FF2B5EF4-FFF2-40B4-BE49-F238E27FC236}">
                <a16:creationId xmlns:a16="http://schemas.microsoft.com/office/drawing/2014/main" id="{BB374FA8-4E54-4B78-9265-AAA2E4CB3228}"/>
              </a:ext>
            </a:extLst>
          </p:cNvPr>
          <p:cNvSpPr>
            <a:spLocks noGrp="1"/>
          </p:cNvSpPr>
          <p:nvPr/>
        </p:nvSpPr>
        <p:spPr>
          <a:xfrm>
            <a:off x="1728673" y="3177540"/>
            <a:ext cx="5943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97E05F"/>
                </a:solidFill>
                <a:latin typeface="Calibri"/>
                <a:ea typeface="Calibri"/>
                <a:cs typeface="Calibri"/>
              </a:rPr>
              <a:t>F6</a:t>
            </a:r>
          </a:p>
        </p:txBody>
      </p:sp>
      <p:sp>
        <p:nvSpPr>
          <p:cNvPr id="148" name="Google Shape;148;p18">
            <a:extLst>
              <a:ext uri="{FF2B5EF4-FFF2-40B4-BE49-F238E27FC236}">
                <a16:creationId xmlns:a16="http://schemas.microsoft.com/office/drawing/2014/main" id="{116C0301-FD8A-4BDB-8F2C-CD57E80BEAB1}"/>
              </a:ext>
            </a:extLst>
          </p:cNvPr>
          <p:cNvSpPr>
            <a:spLocks noGrp="1"/>
          </p:cNvSpPr>
          <p:nvPr/>
        </p:nvSpPr>
        <p:spPr>
          <a:xfrm>
            <a:off x="2387041" y="3177540"/>
            <a:ext cx="330921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Уникальное описание (MD5)</a:t>
            </a:r>
          </a:p>
        </p:txBody>
      </p:sp>
      <p:sp>
        <p:nvSpPr>
          <p:cNvPr id="149" name="Google Shape;149;p18">
            <a:extLst>
              <a:ext uri="{FF2B5EF4-FFF2-40B4-BE49-F238E27FC236}">
                <a16:creationId xmlns:a16="http://schemas.microsoft.com/office/drawing/2014/main" id="{0518AE1C-51DB-445D-99C1-44F794020E49}"/>
              </a:ext>
            </a:extLst>
          </p:cNvPr>
          <p:cNvSpPr>
            <a:spLocks noGrp="1"/>
          </p:cNvSpPr>
          <p:nvPr/>
        </p:nvSpPr>
        <p:spPr>
          <a:xfrm>
            <a:off x="1900672" y="3648456"/>
            <a:ext cx="4702576" cy="438912"/>
          </a:xfrm>
          <a:prstGeom prst="rect">
            <a:avLst/>
          </a:prstGeom>
          <a:solidFill>
            <a:srgbClr val="0D1B4B"/>
          </a:solidFill>
          <a:ln w="12700" cmpd="sng">
            <a:solidFill>
              <a:srgbClr val="0D1B4B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8">
            <a:extLst>
              <a:ext uri="{FF2B5EF4-FFF2-40B4-BE49-F238E27FC236}">
                <a16:creationId xmlns:a16="http://schemas.microsoft.com/office/drawing/2014/main" id="{C64FB622-20D7-4FF2-BB20-1B46D9745C12}"/>
              </a:ext>
            </a:extLst>
          </p:cNvPr>
          <p:cNvSpPr>
            <a:spLocks noGrp="1"/>
          </p:cNvSpPr>
          <p:nvPr/>
        </p:nvSpPr>
        <p:spPr>
          <a:xfrm>
            <a:off x="1992112" y="3648456"/>
            <a:ext cx="5943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97E05F"/>
                </a:solidFill>
                <a:latin typeface="Calibri"/>
                <a:ea typeface="Calibri"/>
                <a:cs typeface="Calibri"/>
              </a:rPr>
              <a:t>F7</a:t>
            </a:r>
          </a:p>
        </p:txBody>
      </p:sp>
      <p:sp>
        <p:nvSpPr>
          <p:cNvPr id="151" name="Google Shape;151;p18">
            <a:extLst>
              <a:ext uri="{FF2B5EF4-FFF2-40B4-BE49-F238E27FC236}">
                <a16:creationId xmlns:a16="http://schemas.microsoft.com/office/drawing/2014/main" id="{AB91ADC6-BD6C-4896-87CC-4869A2C5A862}"/>
              </a:ext>
            </a:extLst>
          </p:cNvPr>
          <p:cNvSpPr>
            <a:spLocks noGrp="1"/>
          </p:cNvSpPr>
          <p:nvPr/>
        </p:nvSpPr>
        <p:spPr>
          <a:xfrm>
            <a:off x="2650480" y="3648456"/>
            <a:ext cx="278233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Объявления 2025 года</a:t>
            </a:r>
          </a:p>
        </p:txBody>
      </p:sp>
      <p:sp>
        <p:nvSpPr>
          <p:cNvPr id="152" name="Google Shape;152;p18">
            <a:extLst>
              <a:ext uri="{FF2B5EF4-FFF2-40B4-BE49-F238E27FC236}">
                <a16:creationId xmlns:a16="http://schemas.microsoft.com/office/drawing/2014/main" id="{869F6DFE-840C-4ACA-8485-51B1F885A1AC}"/>
              </a:ext>
            </a:extLst>
          </p:cNvPr>
          <p:cNvSpPr>
            <a:spLocks noGrp="1"/>
          </p:cNvSpPr>
          <p:nvPr/>
        </p:nvSpPr>
        <p:spPr>
          <a:xfrm>
            <a:off x="2164110" y="4119372"/>
            <a:ext cx="4175699" cy="438912"/>
          </a:xfrm>
          <a:prstGeom prst="rect">
            <a:avLst/>
          </a:prstGeom>
          <a:solidFill>
            <a:srgbClr val="3D7A0A"/>
          </a:solidFill>
          <a:ln w="12700" cmpd="sng">
            <a:solidFill>
              <a:srgbClr val="3D7A0A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8">
            <a:extLst>
              <a:ext uri="{FF2B5EF4-FFF2-40B4-BE49-F238E27FC236}">
                <a16:creationId xmlns:a16="http://schemas.microsoft.com/office/drawing/2014/main" id="{052B9074-CA34-45C5-8389-96DC2171F88B}"/>
              </a:ext>
            </a:extLst>
          </p:cNvPr>
          <p:cNvSpPr>
            <a:spLocks noGrp="1"/>
          </p:cNvSpPr>
          <p:nvPr/>
        </p:nvSpPr>
        <p:spPr>
          <a:xfrm>
            <a:off x="2255550" y="4119372"/>
            <a:ext cx="5943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cap="none">
                <a:solidFill>
                  <a:srgbClr val="97E05F"/>
                </a:solidFill>
                <a:latin typeface="Calibri"/>
                <a:ea typeface="Calibri"/>
                <a:cs typeface="Calibri"/>
              </a:rPr>
              <a:t>F8</a:t>
            </a:r>
          </a:p>
        </p:txBody>
      </p:sp>
      <p:sp>
        <p:nvSpPr>
          <p:cNvPr id="154" name="Google Shape;154;p18">
            <a:extLst>
              <a:ext uri="{FF2B5EF4-FFF2-40B4-BE49-F238E27FC236}">
                <a16:creationId xmlns:a16="http://schemas.microsoft.com/office/drawing/2014/main" id="{9828315E-E25A-4639-B8F2-FDB68806D437}"/>
              </a:ext>
            </a:extLst>
          </p:cNvPr>
          <p:cNvSpPr>
            <a:spLocks noGrp="1"/>
          </p:cNvSpPr>
          <p:nvPr/>
        </p:nvSpPr>
        <p:spPr>
          <a:xfrm>
            <a:off x="2913918" y="4119372"/>
            <a:ext cx="2255459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Только товарные категории</a:t>
            </a:r>
          </a:p>
        </p:txBody>
      </p:sp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10ADD0AF-D976-4801-8B97-32FAA64BD2FD}"/>
              </a:ext>
            </a:extLst>
          </p:cNvPr>
          <p:cNvSpPr>
            <a:spLocks noGrp="1"/>
          </p:cNvSpPr>
          <p:nvPr/>
        </p:nvSpPr>
        <p:spPr>
          <a:xfrm>
            <a:off x="5105370" y="4119372"/>
            <a:ext cx="11430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97E05F"/>
                </a:solidFill>
                <a:latin typeface="Calibri"/>
                <a:ea typeface="Calibri"/>
                <a:cs typeface="Calibri"/>
              </a:rPr>
              <a:t>~190 000</a:t>
            </a:r>
          </a:p>
        </p:txBody>
      </p:sp>
    </p:spTree>
    <p:extLst>
      <p:ext uri="{BB962C8B-B14F-4D97-AF65-F5344CB8AC3E}">
        <p14:creationId xmlns:p14="http://schemas.microsoft.com/office/powerpoint/2010/main" val="561676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>
            <a:extLst>
              <a:ext uri="{FF2B5EF4-FFF2-40B4-BE49-F238E27FC236}">
                <a16:creationId xmlns:a16="http://schemas.microsoft.com/office/drawing/2014/main" id="{D44F5483-B56A-4648-9B1A-49A9279C111E}"/>
              </a:ext>
            </a:extLst>
          </p:cNvPr>
          <p:cNvSpPr>
            <a:spLocks noGrp="1"/>
          </p:cNvSpPr>
          <p:nvPr/>
        </p:nvSpPr>
        <p:spPr>
          <a:xfrm>
            <a:off x="320040" y="246888"/>
            <a:ext cx="54864" cy="42062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9">
            <a:extLst>
              <a:ext uri="{FF2B5EF4-FFF2-40B4-BE49-F238E27FC236}">
                <a16:creationId xmlns:a16="http://schemas.microsoft.com/office/drawing/2014/main" id="{98D56748-5235-437B-B9E1-91B24342449B}"/>
              </a:ext>
            </a:extLst>
          </p:cNvPr>
          <p:cNvSpPr>
            <a:spLocks noGrp="1"/>
          </p:cNvSpPr>
          <p:nvPr/>
        </p:nvSpPr>
        <p:spPr>
          <a:xfrm>
            <a:off x="457200" y="201168"/>
            <a:ext cx="8366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Quality Score — отбор лучших 3 000 объявлений</a:t>
            </a:r>
          </a:p>
        </p:txBody>
      </p:sp>
      <p:sp>
        <p:nvSpPr>
          <p:cNvPr id="163" name="Google Shape;163;p19">
            <a:extLst>
              <a:ext uri="{FF2B5EF4-FFF2-40B4-BE49-F238E27FC236}">
                <a16:creationId xmlns:a16="http://schemas.microsoft.com/office/drawing/2014/main" id="{62F01EAF-CB8E-45CB-9E61-0440144F799D}"/>
              </a:ext>
            </a:extLst>
          </p:cNvPr>
          <p:cNvSpPr>
            <a:spLocks noGrp="1"/>
          </p:cNvSpPr>
          <p:nvPr/>
        </p:nvSpPr>
        <p:spPr>
          <a:xfrm>
            <a:off x="320040" y="804672"/>
            <a:ext cx="2880360" cy="512064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9">
            <a:extLst>
              <a:ext uri="{FF2B5EF4-FFF2-40B4-BE49-F238E27FC236}">
                <a16:creationId xmlns:a16="http://schemas.microsoft.com/office/drawing/2014/main" id="{6F7EBD52-C983-43DC-BC89-420F04AE018F}"/>
              </a:ext>
            </a:extLst>
          </p:cNvPr>
          <p:cNvSpPr>
            <a:spLocks noGrp="1"/>
          </p:cNvSpPr>
          <p:nvPr/>
        </p:nvSpPr>
        <p:spPr>
          <a:xfrm>
            <a:off x="320040" y="804672"/>
            <a:ext cx="566928" cy="51206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9">
            <a:extLst>
              <a:ext uri="{FF2B5EF4-FFF2-40B4-BE49-F238E27FC236}">
                <a16:creationId xmlns:a16="http://schemas.microsoft.com/office/drawing/2014/main" id="{AA3375FE-B05C-4806-B2C3-84C1AF8CD4D5}"/>
              </a:ext>
            </a:extLst>
          </p:cNvPr>
          <p:cNvSpPr>
            <a:spLocks noGrp="1"/>
          </p:cNvSpPr>
          <p:nvPr/>
        </p:nvSpPr>
        <p:spPr>
          <a:xfrm>
            <a:off x="320040" y="804672"/>
            <a:ext cx="56692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0.2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66" name="Google Shape;166;p19">
            <a:extLst>
              <a:ext uri="{FF2B5EF4-FFF2-40B4-BE49-F238E27FC236}">
                <a16:creationId xmlns:a16="http://schemas.microsoft.com/office/drawing/2014/main" id="{4DA0D00E-416A-4D9D-86BF-1E30CD4BF0D5}"/>
              </a:ext>
            </a:extLst>
          </p:cNvPr>
          <p:cNvSpPr>
            <a:spLocks noGrp="1"/>
          </p:cNvSpPr>
          <p:nvPr/>
        </p:nvSpPr>
        <p:spPr>
          <a:xfrm>
            <a:off x="978408" y="804672"/>
            <a:ext cx="213055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Длина описания</a:t>
            </a:r>
          </a:p>
        </p:txBody>
      </p:sp>
      <p:sp>
        <p:nvSpPr>
          <p:cNvPr id="167" name="Google Shape;167;p19">
            <a:extLst>
              <a:ext uri="{FF2B5EF4-FFF2-40B4-BE49-F238E27FC236}">
                <a16:creationId xmlns:a16="http://schemas.microsoft.com/office/drawing/2014/main" id="{2B5A5794-F6FA-48D0-A06A-252927F1A2DA}"/>
              </a:ext>
            </a:extLst>
          </p:cNvPr>
          <p:cNvSpPr>
            <a:spLocks noGrp="1"/>
          </p:cNvSpPr>
          <p:nvPr/>
        </p:nvSpPr>
        <p:spPr>
          <a:xfrm>
            <a:off x="3282696" y="804672"/>
            <a:ext cx="2880360" cy="512064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9">
            <a:extLst>
              <a:ext uri="{FF2B5EF4-FFF2-40B4-BE49-F238E27FC236}">
                <a16:creationId xmlns:a16="http://schemas.microsoft.com/office/drawing/2014/main" id="{F10CCEB6-6567-4EF5-AAC3-08489D18FD27}"/>
              </a:ext>
            </a:extLst>
          </p:cNvPr>
          <p:cNvSpPr>
            <a:spLocks noGrp="1"/>
          </p:cNvSpPr>
          <p:nvPr/>
        </p:nvSpPr>
        <p:spPr>
          <a:xfrm>
            <a:off x="3282696" y="804672"/>
            <a:ext cx="566928" cy="51206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F6A4526D-7297-4F53-BBA3-79EFC37A5950}"/>
              </a:ext>
            </a:extLst>
          </p:cNvPr>
          <p:cNvSpPr>
            <a:spLocks noGrp="1"/>
          </p:cNvSpPr>
          <p:nvPr/>
        </p:nvSpPr>
        <p:spPr>
          <a:xfrm>
            <a:off x="3282696" y="804672"/>
            <a:ext cx="56692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0.1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AB45C21-98CC-4C95-9BAE-D4FC254770B3}"/>
              </a:ext>
            </a:extLst>
          </p:cNvPr>
          <p:cNvSpPr>
            <a:spLocks noGrp="1"/>
          </p:cNvSpPr>
          <p:nvPr/>
        </p:nvSpPr>
        <p:spPr>
          <a:xfrm>
            <a:off x="3941064" y="804672"/>
            <a:ext cx="213055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Факт продажи</a:t>
            </a:r>
          </a:p>
        </p:txBody>
      </p:sp>
      <p:sp>
        <p:nvSpPr>
          <p:cNvPr id="171" name="Google Shape;171;p19">
            <a:extLst>
              <a:ext uri="{FF2B5EF4-FFF2-40B4-BE49-F238E27FC236}">
                <a16:creationId xmlns:a16="http://schemas.microsoft.com/office/drawing/2014/main" id="{6DEE198F-24DB-4234-8D53-64596B8AD878}"/>
              </a:ext>
            </a:extLst>
          </p:cNvPr>
          <p:cNvSpPr>
            <a:spLocks noGrp="1"/>
          </p:cNvSpPr>
          <p:nvPr/>
        </p:nvSpPr>
        <p:spPr>
          <a:xfrm>
            <a:off x="320040" y="1399032"/>
            <a:ext cx="2880360" cy="512064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">
            <a:extLst>
              <a:ext uri="{FF2B5EF4-FFF2-40B4-BE49-F238E27FC236}">
                <a16:creationId xmlns:a16="http://schemas.microsoft.com/office/drawing/2014/main" id="{39C109D2-7A43-4F5F-9AAA-CE93B07D4333}"/>
              </a:ext>
            </a:extLst>
          </p:cNvPr>
          <p:cNvSpPr>
            <a:spLocks noGrp="1"/>
          </p:cNvSpPr>
          <p:nvPr/>
        </p:nvSpPr>
        <p:spPr>
          <a:xfrm>
            <a:off x="320040" y="1399032"/>
            <a:ext cx="566928" cy="51206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A41E399F-F3C7-480D-A87C-2ED7A709F264}"/>
              </a:ext>
            </a:extLst>
          </p:cNvPr>
          <p:cNvSpPr>
            <a:spLocks noGrp="1"/>
          </p:cNvSpPr>
          <p:nvPr/>
        </p:nvSpPr>
        <p:spPr>
          <a:xfrm>
            <a:off x="320040" y="1399032"/>
            <a:ext cx="56692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0.1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74" name="Google Shape;174;p19">
            <a:extLst>
              <a:ext uri="{FF2B5EF4-FFF2-40B4-BE49-F238E27FC236}">
                <a16:creationId xmlns:a16="http://schemas.microsoft.com/office/drawing/2014/main" id="{A1B19451-334E-4E89-B8E7-B7B05DE2C1B2}"/>
              </a:ext>
            </a:extLst>
          </p:cNvPr>
          <p:cNvSpPr>
            <a:spLocks noGrp="1"/>
          </p:cNvSpPr>
          <p:nvPr/>
        </p:nvSpPr>
        <p:spPr>
          <a:xfrm>
            <a:off x="978408" y="1399032"/>
            <a:ext cx="213055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Скорость снятия</a:t>
            </a:r>
          </a:p>
        </p:txBody>
      </p:sp>
      <p:sp>
        <p:nvSpPr>
          <p:cNvPr id="175" name="Google Shape;175;p19">
            <a:extLst>
              <a:ext uri="{FF2B5EF4-FFF2-40B4-BE49-F238E27FC236}">
                <a16:creationId xmlns:a16="http://schemas.microsoft.com/office/drawing/2014/main" id="{B5F9EF6A-FE8C-45B8-A695-962C594329C5}"/>
              </a:ext>
            </a:extLst>
          </p:cNvPr>
          <p:cNvSpPr>
            <a:spLocks noGrp="1"/>
          </p:cNvSpPr>
          <p:nvPr/>
        </p:nvSpPr>
        <p:spPr>
          <a:xfrm>
            <a:off x="3282696" y="1399032"/>
            <a:ext cx="2880360" cy="512064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0E3EB2AE-A27E-42C6-A78E-8A014A5FD942}"/>
              </a:ext>
            </a:extLst>
          </p:cNvPr>
          <p:cNvSpPr>
            <a:spLocks noGrp="1"/>
          </p:cNvSpPr>
          <p:nvPr/>
        </p:nvSpPr>
        <p:spPr>
          <a:xfrm>
            <a:off x="3282696" y="1399032"/>
            <a:ext cx="566928" cy="51206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E023F293-F38F-4ABC-A684-085FFA31A9F6}"/>
              </a:ext>
            </a:extLst>
          </p:cNvPr>
          <p:cNvSpPr>
            <a:spLocks noGrp="1"/>
          </p:cNvSpPr>
          <p:nvPr/>
        </p:nvSpPr>
        <p:spPr>
          <a:xfrm>
            <a:off x="3282696" y="1399032"/>
            <a:ext cx="56692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0.1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9176DC2E-8636-4BD3-80F9-A5FCF38EF916}"/>
              </a:ext>
            </a:extLst>
          </p:cNvPr>
          <p:cNvSpPr>
            <a:spLocks noGrp="1"/>
          </p:cNvSpPr>
          <p:nvPr/>
        </p:nvSpPr>
        <p:spPr>
          <a:xfrm>
            <a:off x="3941064" y="1399032"/>
            <a:ext cx="213055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Репутация продавца</a:t>
            </a:r>
          </a:p>
        </p:txBody>
      </p:sp>
      <p:sp>
        <p:nvSpPr>
          <p:cNvPr id="179" name="Google Shape;179;p19">
            <a:extLst>
              <a:ext uri="{FF2B5EF4-FFF2-40B4-BE49-F238E27FC236}">
                <a16:creationId xmlns:a16="http://schemas.microsoft.com/office/drawing/2014/main" id="{D3CFB9FB-A8C0-405B-8F5C-0239E3734F7D}"/>
              </a:ext>
            </a:extLst>
          </p:cNvPr>
          <p:cNvSpPr>
            <a:spLocks noGrp="1"/>
          </p:cNvSpPr>
          <p:nvPr/>
        </p:nvSpPr>
        <p:spPr>
          <a:xfrm>
            <a:off x="320040" y="1993392"/>
            <a:ext cx="2880360" cy="512064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9">
            <a:extLst>
              <a:ext uri="{FF2B5EF4-FFF2-40B4-BE49-F238E27FC236}">
                <a16:creationId xmlns:a16="http://schemas.microsoft.com/office/drawing/2014/main" id="{3B75CE1D-0B64-48C9-B3C5-738FED00FB3B}"/>
              </a:ext>
            </a:extLst>
          </p:cNvPr>
          <p:cNvSpPr>
            <a:spLocks noGrp="1"/>
          </p:cNvSpPr>
          <p:nvPr/>
        </p:nvSpPr>
        <p:spPr>
          <a:xfrm>
            <a:off x="320040" y="1993392"/>
            <a:ext cx="566928" cy="51206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9">
            <a:extLst>
              <a:ext uri="{FF2B5EF4-FFF2-40B4-BE49-F238E27FC236}">
                <a16:creationId xmlns:a16="http://schemas.microsoft.com/office/drawing/2014/main" id="{3113304D-D37D-4837-AE50-C78E213CE0F1}"/>
              </a:ext>
            </a:extLst>
          </p:cNvPr>
          <p:cNvSpPr>
            <a:spLocks noGrp="1"/>
          </p:cNvSpPr>
          <p:nvPr/>
        </p:nvSpPr>
        <p:spPr>
          <a:xfrm>
            <a:off x="320040" y="1993392"/>
            <a:ext cx="56692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0.1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82" name="Google Shape;182;p19">
            <a:extLst>
              <a:ext uri="{FF2B5EF4-FFF2-40B4-BE49-F238E27FC236}">
                <a16:creationId xmlns:a16="http://schemas.microsoft.com/office/drawing/2014/main" id="{DC627A12-A62C-4C00-B10F-37D2B0637ADF}"/>
              </a:ext>
            </a:extLst>
          </p:cNvPr>
          <p:cNvSpPr>
            <a:spLocks noGrp="1"/>
          </p:cNvSpPr>
          <p:nvPr/>
        </p:nvSpPr>
        <p:spPr>
          <a:xfrm>
            <a:off x="978408" y="1993392"/>
            <a:ext cx="213055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Профессиональность</a:t>
            </a:r>
          </a:p>
        </p:txBody>
      </p:sp>
      <p:sp>
        <p:nvSpPr>
          <p:cNvPr id="183" name="Google Shape;183;p19">
            <a:extLst>
              <a:ext uri="{FF2B5EF4-FFF2-40B4-BE49-F238E27FC236}">
                <a16:creationId xmlns:a16="http://schemas.microsoft.com/office/drawing/2014/main" id="{66F48462-22BF-411D-BD17-18C085057494}"/>
              </a:ext>
            </a:extLst>
          </p:cNvPr>
          <p:cNvSpPr>
            <a:spLocks noGrp="1"/>
          </p:cNvSpPr>
          <p:nvPr/>
        </p:nvSpPr>
        <p:spPr>
          <a:xfrm>
            <a:off x="3282696" y="1993392"/>
            <a:ext cx="2880360" cy="512064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9">
            <a:extLst>
              <a:ext uri="{FF2B5EF4-FFF2-40B4-BE49-F238E27FC236}">
                <a16:creationId xmlns:a16="http://schemas.microsoft.com/office/drawing/2014/main" id="{303E57F6-D68C-42EF-85CA-FB450C263D97}"/>
              </a:ext>
            </a:extLst>
          </p:cNvPr>
          <p:cNvSpPr>
            <a:spLocks noGrp="1"/>
          </p:cNvSpPr>
          <p:nvPr/>
        </p:nvSpPr>
        <p:spPr>
          <a:xfrm>
            <a:off x="3282696" y="1993392"/>
            <a:ext cx="566928" cy="51206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9">
            <a:extLst>
              <a:ext uri="{FF2B5EF4-FFF2-40B4-BE49-F238E27FC236}">
                <a16:creationId xmlns:a16="http://schemas.microsoft.com/office/drawing/2014/main" id="{F846C88B-89CA-4990-89A8-EF93E14C0F08}"/>
              </a:ext>
            </a:extLst>
          </p:cNvPr>
          <p:cNvSpPr>
            <a:spLocks noGrp="1"/>
          </p:cNvSpPr>
          <p:nvPr/>
        </p:nvSpPr>
        <p:spPr>
          <a:xfrm>
            <a:off x="3282696" y="1993392"/>
            <a:ext cx="56692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86" name="Google Shape;186;p19">
            <a:extLst>
              <a:ext uri="{FF2B5EF4-FFF2-40B4-BE49-F238E27FC236}">
                <a16:creationId xmlns:a16="http://schemas.microsoft.com/office/drawing/2014/main" id="{52FB23E3-FB24-41D7-A6D6-B6111BEC5333}"/>
              </a:ext>
            </a:extLst>
          </p:cNvPr>
          <p:cNvSpPr>
            <a:spLocks noGrp="1"/>
          </p:cNvSpPr>
          <p:nvPr/>
        </p:nvSpPr>
        <p:spPr>
          <a:xfrm>
            <a:off x="3941064" y="1993392"/>
            <a:ext cx="213055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Информационная ценность</a:t>
            </a:r>
          </a:p>
        </p:txBody>
      </p:sp>
      <p:sp>
        <p:nvSpPr>
          <p:cNvPr id="187" name="Google Shape;187;p19">
            <a:extLst>
              <a:ext uri="{FF2B5EF4-FFF2-40B4-BE49-F238E27FC236}">
                <a16:creationId xmlns:a16="http://schemas.microsoft.com/office/drawing/2014/main" id="{794A194D-531F-417F-AD4E-F510B067DBFE}"/>
              </a:ext>
            </a:extLst>
          </p:cNvPr>
          <p:cNvSpPr>
            <a:spLocks noGrp="1"/>
          </p:cNvSpPr>
          <p:nvPr/>
        </p:nvSpPr>
        <p:spPr>
          <a:xfrm>
            <a:off x="320040" y="2587752"/>
            <a:ext cx="2880360" cy="512064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9">
            <a:extLst>
              <a:ext uri="{FF2B5EF4-FFF2-40B4-BE49-F238E27FC236}">
                <a16:creationId xmlns:a16="http://schemas.microsoft.com/office/drawing/2014/main" id="{233E57E2-4DDE-4FE6-BB0D-896D9D878592}"/>
              </a:ext>
            </a:extLst>
          </p:cNvPr>
          <p:cNvSpPr>
            <a:spLocks noGrp="1"/>
          </p:cNvSpPr>
          <p:nvPr/>
        </p:nvSpPr>
        <p:spPr>
          <a:xfrm>
            <a:off x="320040" y="2587752"/>
            <a:ext cx="566928" cy="51206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9">
            <a:extLst>
              <a:ext uri="{FF2B5EF4-FFF2-40B4-BE49-F238E27FC236}">
                <a16:creationId xmlns:a16="http://schemas.microsoft.com/office/drawing/2014/main" id="{A630CA9B-475F-44F8-B7C4-0A8481C5D39C}"/>
              </a:ext>
            </a:extLst>
          </p:cNvPr>
          <p:cNvSpPr>
            <a:spLocks noGrp="1"/>
          </p:cNvSpPr>
          <p:nvPr/>
        </p:nvSpPr>
        <p:spPr>
          <a:xfrm>
            <a:off x="320040" y="2587752"/>
            <a:ext cx="56692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90" name="Google Shape;190;p19">
            <a:extLst>
              <a:ext uri="{FF2B5EF4-FFF2-40B4-BE49-F238E27FC236}">
                <a16:creationId xmlns:a16="http://schemas.microsoft.com/office/drawing/2014/main" id="{85C90317-8977-430C-94F2-6C8662BB26B7}"/>
              </a:ext>
            </a:extLst>
          </p:cNvPr>
          <p:cNvSpPr>
            <a:spLocks noGrp="1"/>
          </p:cNvSpPr>
          <p:nvPr/>
        </p:nvSpPr>
        <p:spPr>
          <a:xfrm>
            <a:off x="978408" y="2587752"/>
            <a:ext cx="213055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Отсутствие контактов</a:t>
            </a:r>
          </a:p>
        </p:txBody>
      </p: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F8D5AD2D-9A5B-419A-B451-04046EFE4B7F}"/>
              </a:ext>
            </a:extLst>
          </p:cNvPr>
          <p:cNvSpPr>
            <a:spLocks noGrp="1"/>
          </p:cNvSpPr>
          <p:nvPr/>
        </p:nvSpPr>
        <p:spPr>
          <a:xfrm>
            <a:off x="6492240" y="804672"/>
            <a:ext cx="2331720" cy="3520440"/>
          </a:xfrm>
          <a:prstGeom prst="rect">
            <a:avLst/>
          </a:prstGeom>
          <a:solidFill>
            <a:srgbClr val="0D1B4B"/>
          </a:solidFill>
          <a:ln w="12700" cmpd="sng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8AE40E2E-2A4F-4F07-9B70-56D3CD81A16D}"/>
              </a:ext>
            </a:extLst>
          </p:cNvPr>
          <p:cNvSpPr>
            <a:spLocks noGrp="1"/>
          </p:cNvSpPr>
          <p:nvPr/>
        </p:nvSpPr>
        <p:spPr>
          <a:xfrm>
            <a:off x="6492240" y="123444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u="none" cap="none">
                <a:solidFill>
                  <a:srgbClr val="97E05F"/>
                </a:solidFill>
                <a:latin typeface="Calibri"/>
                <a:ea typeface="Calibri"/>
                <a:cs typeface="Calibri"/>
              </a:rPr>
              <a:t>3 000</a:t>
            </a: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C96E74A0-3EB9-49CD-A06C-9E47A500F409}"/>
              </a:ext>
            </a:extLst>
          </p:cNvPr>
          <p:cNvSpPr>
            <a:spLocks noGrp="1"/>
          </p:cNvSpPr>
          <p:nvPr/>
        </p:nvSpPr>
        <p:spPr>
          <a:xfrm>
            <a:off x="6492240" y="2194560"/>
            <a:ext cx="2331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лучших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объявлений</a:t>
            </a: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DA70AF23-C2EE-4D6E-919B-D665AEFBEBD3}"/>
              </a:ext>
            </a:extLst>
          </p:cNvPr>
          <p:cNvSpPr>
            <a:spLocks noGrp="1"/>
          </p:cNvSpPr>
          <p:nvPr/>
        </p:nvSpPr>
        <p:spPr>
          <a:xfrm>
            <a:off x="6492240" y="3063240"/>
            <a:ext cx="2331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стратифицированно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по категориям</a:t>
            </a: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1EDD3CD2-701C-432A-8F7B-A086D4FCE526}"/>
              </a:ext>
            </a:extLst>
          </p:cNvPr>
          <p:cNvSpPr>
            <a:spLocks noGrp="1"/>
          </p:cNvSpPr>
          <p:nvPr/>
        </p:nvSpPr>
        <p:spPr>
          <a:xfrm>
            <a:off x="320050" y="3551750"/>
            <a:ext cx="61722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A0A0A"/>
                </a:solidFill>
                <a:latin typeface="Roboto"/>
                <a:ea typeface="Roboto"/>
                <a:cs typeface="Roboto"/>
              </a:rPr>
              <a:t>Веса подбирались пропорционально реальному стандартному отклонению (std) каждого компонента на данных.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0A0A0A"/>
              </a:solidFill>
              <a:latin typeface="Roboto"/>
              <a:ea typeface="Roboto"/>
              <a:cs typeface="Roboto"/>
            </a:endParaRP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0A0A0A"/>
              </a:solidFill>
              <a:latin typeface="Roboto"/>
              <a:ea typeface="Roboto"/>
              <a:cs typeface="Roboto"/>
            </a:endParaRP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0A0A0A"/>
              </a:solidFill>
              <a:latin typeface="Roboto"/>
              <a:ea typeface="Roboto"/>
              <a:cs typeface="Roboto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sz="1150" b="1">
              <a:solidFill>
                <a:srgbClr val="0A0A0A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5974E7BB-BC29-4CF2-8AFB-3410D5369FD9}"/>
              </a:ext>
            </a:extLst>
          </p:cNvPr>
          <p:cNvSpPr>
            <a:spLocks noGrp="1"/>
          </p:cNvSpPr>
          <p:nvPr/>
        </p:nvSpPr>
        <p:spPr>
          <a:xfrm>
            <a:off x="3282715" y="2587752"/>
            <a:ext cx="2880300" cy="5121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2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A8694BA4-BEA8-41B7-B584-A697CCCD2090}"/>
              </a:ext>
            </a:extLst>
          </p:cNvPr>
          <p:cNvSpPr>
            <a:spLocks noGrp="1"/>
          </p:cNvSpPr>
          <p:nvPr/>
        </p:nvSpPr>
        <p:spPr>
          <a:xfrm>
            <a:off x="3282715" y="2587752"/>
            <a:ext cx="567000" cy="512100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9">
            <a:extLst>
              <a:ext uri="{FF2B5EF4-FFF2-40B4-BE49-F238E27FC236}">
                <a16:creationId xmlns:a16="http://schemas.microsoft.com/office/drawing/2014/main" id="{F8130A7A-0697-4560-B571-EB975A44154C}"/>
              </a:ext>
            </a:extLst>
          </p:cNvPr>
          <p:cNvSpPr>
            <a:spLocks noGrp="1"/>
          </p:cNvSpPr>
          <p:nvPr/>
        </p:nvSpPr>
        <p:spPr>
          <a:xfrm>
            <a:off x="3282715" y="2587752"/>
            <a:ext cx="5670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99" name="Google Shape;199;p19">
            <a:extLst>
              <a:ext uri="{FF2B5EF4-FFF2-40B4-BE49-F238E27FC236}">
                <a16:creationId xmlns:a16="http://schemas.microsoft.com/office/drawing/2014/main" id="{3F103306-F36F-4C5F-81E2-0E1E76D1B89E}"/>
              </a:ext>
            </a:extLst>
          </p:cNvPr>
          <p:cNvSpPr>
            <a:spLocks noGrp="1"/>
          </p:cNvSpPr>
          <p:nvPr/>
        </p:nvSpPr>
        <p:spPr>
          <a:xfrm>
            <a:off x="3941083" y="2587752"/>
            <a:ext cx="2130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Количество фотографий</a:t>
            </a:r>
          </a:p>
        </p:txBody>
      </p:sp>
    </p:spTree>
    <p:extLst>
      <p:ext uri="{BB962C8B-B14F-4D97-AF65-F5344CB8AC3E}">
        <p14:creationId xmlns:p14="http://schemas.microsoft.com/office/powerpoint/2010/main" val="202464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>
            <a:extLst>
              <a:ext uri="{FF2B5EF4-FFF2-40B4-BE49-F238E27FC236}">
                <a16:creationId xmlns:a16="http://schemas.microsoft.com/office/drawing/2014/main" id="{5513388B-3486-424D-8A3C-7403610FB996}"/>
              </a:ext>
            </a:extLst>
          </p:cNvPr>
          <p:cNvSpPr>
            <a:spLocks noGrp="1"/>
          </p:cNvSpPr>
          <p:nvPr/>
        </p:nvSpPr>
        <p:spPr>
          <a:xfrm>
            <a:off x="320040" y="246888"/>
            <a:ext cx="54864" cy="42062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0">
            <a:extLst>
              <a:ext uri="{FF2B5EF4-FFF2-40B4-BE49-F238E27FC236}">
                <a16:creationId xmlns:a16="http://schemas.microsoft.com/office/drawing/2014/main" id="{D77BB0CD-EDB0-494C-8133-2E459A2211BA}"/>
              </a:ext>
            </a:extLst>
          </p:cNvPr>
          <p:cNvSpPr>
            <a:spLocks noGrp="1"/>
          </p:cNvSpPr>
          <p:nvPr/>
        </p:nvSpPr>
        <p:spPr>
          <a:xfrm>
            <a:off x="457200" y="201168"/>
            <a:ext cx="8366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Извлечение структурированных параметров через LLM</a:t>
            </a:r>
          </a:p>
        </p:txBody>
      </p:sp>
      <p:sp>
        <p:nvSpPr>
          <p:cNvPr id="207" name="Google Shape;207;p20">
            <a:extLst>
              <a:ext uri="{FF2B5EF4-FFF2-40B4-BE49-F238E27FC236}">
                <a16:creationId xmlns:a16="http://schemas.microsoft.com/office/drawing/2014/main" id="{0568633F-9FA8-401C-83AF-3A9DCB29B451}"/>
              </a:ext>
            </a:extLst>
          </p:cNvPr>
          <p:cNvSpPr>
            <a:spLocks noGrp="1"/>
          </p:cNvSpPr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AAA_VLM · 2026</a:t>
            </a:r>
          </a:p>
        </p:txBody>
      </p:sp>
      <p:sp>
        <p:nvSpPr>
          <p:cNvPr id="208" name="Google Shape;208;p20">
            <a:extLst>
              <a:ext uri="{FF2B5EF4-FFF2-40B4-BE49-F238E27FC236}">
                <a16:creationId xmlns:a16="http://schemas.microsoft.com/office/drawing/2014/main" id="{6ABBE039-8FF9-48C9-B21A-9FA576B36A9F}"/>
              </a:ext>
            </a:extLst>
          </p:cNvPr>
          <p:cNvSpPr>
            <a:spLocks noGrp="1"/>
          </p:cNvSpPr>
          <p:nvPr/>
        </p:nvSpPr>
        <p:spPr>
          <a:xfrm>
            <a:off x="365760" y="85039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Зачем?</a:t>
            </a:r>
          </a:p>
        </p:txBody>
      </p:sp>
      <p:sp>
        <p:nvSpPr>
          <p:cNvPr id="209" name="Google Shape;209;p20">
            <a:extLst>
              <a:ext uri="{FF2B5EF4-FFF2-40B4-BE49-F238E27FC236}">
                <a16:creationId xmlns:a16="http://schemas.microsoft.com/office/drawing/2014/main" id="{D46411E1-6926-48E7-8FA8-C7DE1BC3C5BF}"/>
              </a:ext>
            </a:extLst>
          </p:cNvPr>
          <p:cNvSpPr>
            <a:spLocks noGrp="1"/>
          </p:cNvSpPr>
          <p:nvPr/>
        </p:nvSpPr>
        <p:spPr>
          <a:xfrm>
            <a:off x="365760" y="1170432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Заголовок и фото не всегда содержат все детали. LLM извлекает структурированные параметры из исходного описания — они становятся дополнительным контекстом для модели-генератора.</a:t>
            </a:r>
          </a:p>
        </p:txBody>
      </p:sp>
      <p:sp>
        <p:nvSpPr>
          <p:cNvPr id="210" name="Google Shape;210;p20">
            <a:extLst>
              <a:ext uri="{FF2B5EF4-FFF2-40B4-BE49-F238E27FC236}">
                <a16:creationId xmlns:a16="http://schemas.microsoft.com/office/drawing/2014/main" id="{076481CF-E471-4872-BF30-693CD01371DF}"/>
              </a:ext>
            </a:extLst>
          </p:cNvPr>
          <p:cNvSpPr>
            <a:spLocks noGrp="1"/>
          </p:cNvSpPr>
          <p:nvPr/>
        </p:nvSpPr>
        <p:spPr>
          <a:xfrm>
            <a:off x="365760" y="224028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Как?</a:t>
            </a:r>
          </a:p>
        </p:txBody>
      </p:sp>
      <p:sp>
        <p:nvSpPr>
          <p:cNvPr id="211" name="Google Shape;211;p20">
            <a:extLst>
              <a:ext uri="{FF2B5EF4-FFF2-40B4-BE49-F238E27FC236}">
                <a16:creationId xmlns:a16="http://schemas.microsoft.com/office/drawing/2014/main" id="{D38C7C78-FCFD-4455-8AD6-BC40D3865EFF}"/>
              </a:ext>
            </a:extLst>
          </p:cNvPr>
          <p:cNvSpPr>
            <a:spLocks noGrp="1"/>
          </p:cNvSpPr>
          <p:nvPr/>
        </p:nvSpPr>
        <p:spPr>
          <a:xfrm>
            <a:off x="365760" y="2606040"/>
            <a:ext cx="41148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2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Модель: Meta-Llama-3.3-70B (SambaNova)</a:t>
            </a: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2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Два промпта: общий + специальный для животных</a:t>
            </a: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2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Валидация + retry при некорректном ответе</a:t>
            </a: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2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Покрытие: 99.6% объявлений получили параметры</a:t>
            </a:r>
          </a:p>
        </p:txBody>
      </p:sp>
      <p:sp>
        <p:nvSpPr>
          <p:cNvPr id="212" name="Google Shape;212;p20">
            <a:extLst>
              <a:ext uri="{FF2B5EF4-FFF2-40B4-BE49-F238E27FC236}">
                <a16:creationId xmlns:a16="http://schemas.microsoft.com/office/drawing/2014/main" id="{71881DB2-B8B5-4C9E-9462-9CAFD3C3A63F}"/>
              </a:ext>
            </a:extLst>
          </p:cNvPr>
          <p:cNvSpPr>
            <a:spLocks noGrp="1"/>
          </p:cNvSpPr>
          <p:nvPr/>
        </p:nvSpPr>
        <p:spPr>
          <a:xfrm>
            <a:off x="4800600" y="777240"/>
            <a:ext cx="4023360" cy="4023360"/>
          </a:xfrm>
          <a:prstGeom prst="rect">
            <a:avLst/>
          </a:prstGeom>
          <a:solidFill>
            <a:srgbClr val="1A2B40"/>
          </a:solidFill>
          <a:ln w="12700" cmpd="sng">
            <a:solidFill>
              <a:srgbClr val="2D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ED5480F8-6553-4F7A-9FDA-3A45D253ADAB}"/>
              </a:ext>
            </a:extLst>
          </p:cNvPr>
          <p:cNvSpPr>
            <a:spLocks noGrp="1"/>
          </p:cNvSpPr>
          <p:nvPr/>
        </p:nvSpPr>
        <p:spPr>
          <a:xfrm>
            <a:off x="4919472" y="886968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cap="none">
                <a:solidFill>
                  <a:srgbClr val="97E05F"/>
                </a:solidFill>
                <a:latin typeface="Consolas"/>
                <a:ea typeface="Consolas"/>
                <a:cs typeface="Consolas"/>
              </a:rPr>
              <a:t>// Пример параметров (Электроника)</a:t>
            </a: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E97BE162-33C9-4C87-93E5-361C0E1FAE77}"/>
              </a:ext>
            </a:extLst>
          </p:cNvPr>
          <p:cNvSpPr>
            <a:spLocks noGrp="1"/>
          </p:cNvSpPr>
          <p:nvPr/>
        </p:nvSpPr>
        <p:spPr>
          <a:xfrm>
            <a:off x="4919472" y="1207008"/>
            <a:ext cx="37947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A8C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A8C8F0"/>
                </a:solidFill>
                <a:latin typeface="Consolas"/>
                <a:ea typeface="Consolas"/>
                <a:cs typeface="Consolas"/>
              </a:rPr>
              <a:t>  "brand": "Samsung",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A8C8F0"/>
                </a:solidFill>
                <a:latin typeface="Consolas"/>
                <a:ea typeface="Consolas"/>
                <a:cs typeface="Consolas"/>
              </a:rPr>
              <a:t>  "model": "Galaxy S21",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A8C8F0"/>
                </a:solidFill>
                <a:latin typeface="Consolas"/>
                <a:ea typeface="Consolas"/>
                <a:cs typeface="Consolas"/>
              </a:rPr>
              <a:t>  "color": "Чёрный фантом",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A8C8F0"/>
                </a:solidFill>
                <a:latin typeface="Consolas"/>
                <a:ea typeface="Consolas"/>
                <a:cs typeface="Consolas"/>
              </a:rPr>
              <a:t>  "storage": "128 GB",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A8C8F0"/>
                </a:solidFill>
                <a:latin typeface="Consolas"/>
                <a:ea typeface="Consolas"/>
                <a:cs typeface="Consolas"/>
              </a:rPr>
              <a:t>  "condition": "Б/у",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A8C8F0"/>
                </a:solidFill>
                <a:latin typeface="Consolas"/>
                <a:ea typeface="Consolas"/>
                <a:cs typeface="Consolas"/>
              </a:rPr>
              <a:t>  "battery": "хорошее",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A8C8F0"/>
                </a:solidFill>
                <a:latin typeface="Consolas"/>
                <a:ea typeface="Consolas"/>
                <a:cs typeface="Consolas"/>
              </a:rPr>
              <a:t>  "accessories": [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A8C8F0"/>
                </a:solidFill>
                <a:latin typeface="Consolas"/>
                <a:ea typeface="Consolas"/>
                <a:cs typeface="Consolas"/>
              </a:rPr>
              <a:t>    "коробка", "зарядка"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A8C8F0"/>
                </a:solidFill>
                <a:latin typeface="Consolas"/>
                <a:ea typeface="Consolas"/>
                <a:cs typeface="Consolas"/>
              </a:rPr>
              <a:t>  ]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A8C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0376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>
            <a:extLst>
              <a:ext uri="{FF2B5EF4-FFF2-40B4-BE49-F238E27FC236}">
                <a16:creationId xmlns:a16="http://schemas.microsoft.com/office/drawing/2014/main" id="{F2102A6D-F2FF-4229-947D-E9B46F3F8686}"/>
              </a:ext>
            </a:extLst>
          </p:cNvPr>
          <p:cNvSpPr>
            <a:spLocks noGrp="1"/>
          </p:cNvSpPr>
          <p:nvPr/>
        </p:nvSpPr>
        <p:spPr>
          <a:xfrm>
            <a:off x="320040" y="246888"/>
            <a:ext cx="54864" cy="42062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1">
            <a:extLst>
              <a:ext uri="{FF2B5EF4-FFF2-40B4-BE49-F238E27FC236}">
                <a16:creationId xmlns:a16="http://schemas.microsoft.com/office/drawing/2014/main" id="{772B6C2D-28B8-4DBF-A453-A62B8533FAED}"/>
              </a:ext>
            </a:extLst>
          </p:cNvPr>
          <p:cNvSpPr>
            <a:spLocks noGrp="1"/>
          </p:cNvSpPr>
          <p:nvPr/>
        </p:nvSpPr>
        <p:spPr>
          <a:xfrm>
            <a:off x="457200" y="201168"/>
            <a:ext cx="8366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Структура датасета: сплиты</a:t>
            </a:r>
          </a:p>
        </p:txBody>
      </p:sp>
      <p:graphicFrame>
        <p:nvGraphicFramePr>
          <p:cNvPr id="222" name="Google Shape;222;p21"/>
          <p:cNvGraphicFramePr/>
          <p:nvPr/>
        </p:nvGraphicFramePr>
        <p:xfrm>
          <a:off x="320040" y="1409772"/>
          <a:ext cx="8503900" cy="2030000"/>
        </p:xfrm>
        <a:graphic>
          <a:graphicData uri="http://schemas.openxmlformats.org/drawingml/2006/table">
            <a:tbl>
              <a:tblPr>
                <a:tableStyleId>{AA80C038-F70F-463E-A867-ECFF924B53E6}</a:tableStyleId>
              </a:tblPr>
              <a:tblGrid>
                <a:gridCol w="1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Сплит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rgbClr val="DDE3EF"/>
                      </a:solidFill>
                      <a:prstDash val="solid"/>
                    </a:lnL>
                    <a:lnR w="12700" cmpd="sng">
                      <a:solidFill>
                        <a:srgbClr val="DDE3EF"/>
                      </a:solidFill>
                      <a:prstDash val="solid"/>
                    </a:lnR>
                    <a:lnT w="12700" cmpd="sng">
                      <a:solidFill>
                        <a:srgbClr val="DDE3EF"/>
                      </a:solidFill>
                      <a:prstDash val="solid"/>
                    </a:lnT>
                    <a:lnB w="12700" cmpd="sng">
                      <a:solidFill>
                        <a:srgbClr val="DDE3EF"/>
                      </a:solidFill>
                      <a:prstDash val="soli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Размер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rgbClr val="DDE3EF"/>
                      </a:solidFill>
                      <a:prstDash val="solid"/>
                    </a:lnL>
                    <a:lnR w="12700" cmpd="sng">
                      <a:solidFill>
                        <a:srgbClr val="DDE3EF"/>
                      </a:solidFill>
                      <a:prstDash val="solid"/>
                    </a:lnR>
                    <a:lnT w="12700" cmpd="sng">
                      <a:solidFill>
                        <a:srgbClr val="DDE3EF"/>
                      </a:solidFill>
                      <a:prstDash val="solid"/>
                    </a:lnT>
                    <a:lnB w="12700" cmpd="sng">
                      <a:solidFill>
                        <a:srgbClr val="DDE3EF"/>
                      </a:solidFill>
                      <a:prstDash val="soli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Как отбирался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rgbClr val="DDE3EF"/>
                      </a:solidFill>
                      <a:prstDash val="solid"/>
                    </a:lnL>
                    <a:lnR w="12700" cmpd="sng">
                      <a:solidFill>
                        <a:srgbClr val="DDE3EF"/>
                      </a:solidFill>
                      <a:prstDash val="solid"/>
                    </a:lnR>
                    <a:lnT w="12700" cmpd="sng">
                      <a:solidFill>
                        <a:srgbClr val="DDE3EF"/>
                      </a:solidFill>
                      <a:prstDash val="solid"/>
                    </a:lnT>
                    <a:lnB w="12700" cmpd="sng">
                      <a:solidFill>
                        <a:srgbClr val="DDE3EF"/>
                      </a:solidFill>
                      <a:prstDash val="soli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 u="none" cap="none">
                          <a:solidFill>
                            <a:srgbClr val="065AE7"/>
                          </a:solidFill>
                          <a:latin typeface="Calibri"/>
                          <a:ea typeface="Calibri"/>
                          <a:cs typeface="Calibri"/>
                        </a:rPr>
                        <a:t>train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rgbClr val="DDE3EF"/>
                      </a:solidFill>
                      <a:prstDash val="solid"/>
                    </a:lnL>
                    <a:lnR w="12700" cmpd="sng">
                      <a:solidFill>
                        <a:srgbClr val="DDE3EF"/>
                      </a:solidFill>
                      <a:prstDash val="solid"/>
                    </a:lnR>
                    <a:lnT w="12700" cmpd="sng">
                      <a:solidFill>
                        <a:srgbClr val="DDE3EF"/>
                      </a:solidFill>
                      <a:prstDash val="solid"/>
                    </a:lnT>
                    <a:lnB w="12700" cmpd="sng">
                      <a:solidFill>
                        <a:srgbClr val="DD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 u="non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30 000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rgbClr val="DDE3EF"/>
                      </a:solidFill>
                      <a:prstDash val="solid"/>
                    </a:lnL>
                    <a:lnR w="12700" cmpd="sng">
                      <a:solidFill>
                        <a:srgbClr val="DDE3EF"/>
                      </a:solidFill>
                      <a:prstDash val="solid"/>
                    </a:lnR>
                    <a:lnT w="12700" cmpd="sng">
                      <a:solidFill>
                        <a:srgbClr val="DDE3EF"/>
                      </a:solidFill>
                      <a:prstDash val="solid"/>
                    </a:lnT>
                    <a:lnB w="12700" cmpd="sng">
                      <a:solidFill>
                        <a:srgbClr val="DD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u="non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Случайная стратифицированная выборка из оставшихся ~187k объявлений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rgbClr val="DDE3EF"/>
                      </a:solidFill>
                      <a:prstDash val="solid"/>
                    </a:lnL>
                    <a:lnR w="12700" cmpd="sng">
                      <a:solidFill>
                        <a:srgbClr val="DDE3EF"/>
                      </a:solidFill>
                      <a:prstDash val="solid"/>
                    </a:lnR>
                    <a:lnT w="12700" cmpd="sng">
                      <a:solidFill>
                        <a:srgbClr val="DDE3EF"/>
                      </a:solidFill>
                      <a:prstDash val="solid"/>
                    </a:lnT>
                    <a:lnB w="12700" cmpd="sng">
                      <a:solidFill>
                        <a:srgbClr val="DD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 u="none" cap="none">
                          <a:solidFill>
                            <a:srgbClr val="065AE7"/>
                          </a:solidFill>
                          <a:latin typeface="Calibri"/>
                          <a:ea typeface="Calibri"/>
                          <a:cs typeface="Calibri"/>
                        </a:rPr>
                        <a:t>valid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rgbClr val="DDE3EF"/>
                      </a:solidFill>
                      <a:prstDash val="solid"/>
                    </a:lnL>
                    <a:lnR w="12700" cmpd="sng">
                      <a:solidFill>
                        <a:srgbClr val="DDE3EF"/>
                      </a:solidFill>
                      <a:prstDash val="solid"/>
                    </a:lnR>
                    <a:lnT w="12700" cmpd="sng">
                      <a:solidFill>
                        <a:srgbClr val="DDE3EF"/>
                      </a:solidFill>
                      <a:prstDash val="solid"/>
                    </a:lnT>
                    <a:lnB w="12700" cmpd="sng">
                      <a:solidFill>
                        <a:srgbClr val="DD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 u="non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100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rgbClr val="DDE3EF"/>
                      </a:solidFill>
                      <a:prstDash val="solid"/>
                    </a:lnL>
                    <a:lnR w="12700" cmpd="sng">
                      <a:solidFill>
                        <a:srgbClr val="DDE3EF"/>
                      </a:solidFill>
                      <a:prstDash val="solid"/>
                    </a:lnR>
                    <a:lnT w="12700" cmpd="sng">
                      <a:solidFill>
                        <a:srgbClr val="DDE3EF"/>
                      </a:solidFill>
                      <a:prstDash val="solid"/>
                    </a:lnT>
                    <a:lnB w="12700" cmpd="sng">
                      <a:solidFill>
                        <a:srgbClr val="DD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u="non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Случайная стратифицированная выборка (берётся первой)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rgbClr val="DDE3EF"/>
                      </a:solidFill>
                      <a:prstDash val="solid"/>
                    </a:lnL>
                    <a:lnR w="12700" cmpd="sng">
                      <a:solidFill>
                        <a:srgbClr val="DDE3EF"/>
                      </a:solidFill>
                      <a:prstDash val="solid"/>
                    </a:lnR>
                    <a:lnT w="12700" cmpd="sng">
                      <a:solidFill>
                        <a:srgbClr val="DDE3EF"/>
                      </a:solidFill>
                      <a:prstDash val="solid"/>
                    </a:lnT>
                    <a:lnB w="12700" cmpd="sng">
                      <a:solidFill>
                        <a:srgbClr val="DD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u="non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no_use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rgbClr val="DDE3EF"/>
                      </a:solidFill>
                      <a:prstDash val="solid"/>
                    </a:lnL>
                    <a:lnR w="12700" cmpd="sng">
                      <a:solidFill>
                        <a:srgbClr val="DDE3EF"/>
                      </a:solidFill>
                      <a:prstDash val="solid"/>
                    </a:lnR>
                    <a:lnT w="12700" cmpd="sng">
                      <a:solidFill>
                        <a:srgbClr val="DDE3EF"/>
                      </a:solidFill>
                      <a:prstDash val="solid"/>
                    </a:lnT>
                    <a:lnB w="12700" cmpd="sng">
                      <a:solidFill>
                        <a:srgbClr val="DD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u="non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157 308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rgbClr val="DDE3EF"/>
                      </a:solidFill>
                      <a:prstDash val="solid"/>
                    </a:lnL>
                    <a:lnR w="12700" cmpd="sng">
                      <a:solidFill>
                        <a:srgbClr val="DDE3EF"/>
                      </a:solidFill>
                      <a:prstDash val="solid"/>
                    </a:lnR>
                    <a:lnT w="12700" cmpd="sng">
                      <a:solidFill>
                        <a:srgbClr val="DDE3EF"/>
                      </a:solidFill>
                      <a:prstDash val="solid"/>
                    </a:lnT>
                    <a:lnB w="12700" cmpd="sng">
                      <a:solidFill>
                        <a:srgbClr val="DD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u="non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</a:rPr>
                        <a:t>Резерв, в обучении не используется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rgbClr val="DDE3EF"/>
                      </a:solidFill>
                      <a:prstDash val="solid"/>
                    </a:lnL>
                    <a:lnR w="12700" cmpd="sng">
                      <a:solidFill>
                        <a:srgbClr val="DDE3EF"/>
                      </a:solidFill>
                      <a:prstDash val="solid"/>
                    </a:lnR>
                    <a:lnT w="12700" cmpd="sng">
                      <a:solidFill>
                        <a:srgbClr val="DDE3EF"/>
                      </a:solidFill>
                      <a:prstDash val="solid"/>
                    </a:lnT>
                    <a:lnB w="12700" cmpd="sng">
                      <a:solidFill>
                        <a:srgbClr val="DD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94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>
            <a:extLst>
              <a:ext uri="{FF2B5EF4-FFF2-40B4-BE49-F238E27FC236}">
                <a16:creationId xmlns:a16="http://schemas.microsoft.com/office/drawing/2014/main" id="{F82F1B0B-F2E8-4173-9DC9-ED2C79CCF5F2}"/>
              </a:ext>
            </a:extLst>
          </p:cNvPr>
          <p:cNvSpPr>
            <a:spLocks noGrp="1"/>
          </p:cNvSpPr>
          <p:nvPr/>
        </p:nvSpPr>
        <p:spPr>
          <a:xfrm>
            <a:off x="320040" y="246888"/>
            <a:ext cx="54864" cy="42062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934AE749-3F76-4E14-AF17-765F32774B70}"/>
              </a:ext>
            </a:extLst>
          </p:cNvPr>
          <p:cNvSpPr>
            <a:spLocks noGrp="1"/>
          </p:cNvSpPr>
          <p:nvPr/>
        </p:nvSpPr>
        <p:spPr>
          <a:xfrm>
            <a:off x="457200" y="201168"/>
            <a:ext cx="8366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Система оценки: LLM-судья</a:t>
            </a:r>
          </a:p>
        </p:txBody>
      </p:sp>
      <p:sp>
        <p:nvSpPr>
          <p:cNvPr id="230" name="Google Shape;230;p22">
            <a:extLst>
              <a:ext uri="{FF2B5EF4-FFF2-40B4-BE49-F238E27FC236}">
                <a16:creationId xmlns:a16="http://schemas.microsoft.com/office/drawing/2014/main" id="{F3D89291-6468-4E98-B5BC-30D7FCF9CE5A}"/>
              </a:ext>
            </a:extLst>
          </p:cNvPr>
          <p:cNvSpPr>
            <a:spLocks noGrp="1"/>
          </p:cNvSpPr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модели-судьи: gpt-5.2  ·  claude-4-6-opus  ·  grok-4     |     100 объявлений  ·  300 оценок LLM</a:t>
            </a:r>
          </a:p>
        </p:txBody>
      </p:sp>
      <p:sp>
        <p:nvSpPr>
          <p:cNvPr id="231" name="Google Shape;231;p22">
            <a:extLst>
              <a:ext uri="{FF2B5EF4-FFF2-40B4-BE49-F238E27FC236}">
                <a16:creationId xmlns:a16="http://schemas.microsoft.com/office/drawing/2014/main" id="{34C8ABFA-C5BA-4213-84C5-65FD8B375F12}"/>
              </a:ext>
            </a:extLst>
          </p:cNvPr>
          <p:cNvSpPr>
            <a:spLocks noGrp="1"/>
          </p:cNvSpPr>
          <p:nvPr/>
        </p:nvSpPr>
        <p:spPr>
          <a:xfrm>
            <a:off x="320040" y="1261872"/>
            <a:ext cx="4160520" cy="1536192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2">
            <a:extLst>
              <a:ext uri="{FF2B5EF4-FFF2-40B4-BE49-F238E27FC236}">
                <a16:creationId xmlns:a16="http://schemas.microsoft.com/office/drawing/2014/main" id="{BFB69FEF-2EDB-427C-B7FD-1404A58C918D}"/>
              </a:ext>
            </a:extLst>
          </p:cNvPr>
          <p:cNvSpPr>
            <a:spLocks noGrp="1"/>
          </p:cNvSpPr>
          <p:nvPr/>
        </p:nvSpPr>
        <p:spPr>
          <a:xfrm>
            <a:off x="320040" y="1261872"/>
            <a:ext cx="4160520" cy="5486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2">
            <a:extLst>
              <a:ext uri="{FF2B5EF4-FFF2-40B4-BE49-F238E27FC236}">
                <a16:creationId xmlns:a16="http://schemas.microsoft.com/office/drawing/2014/main" id="{531D8159-CE91-49FE-8770-9FFD78F9C314}"/>
              </a:ext>
            </a:extLst>
          </p:cNvPr>
          <p:cNvSpPr>
            <a:spLocks noGrp="1"/>
          </p:cNvSpPr>
          <p:nvPr/>
        </p:nvSpPr>
        <p:spPr>
          <a:xfrm>
            <a:off x="457200" y="135331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 dirty="0" err="1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Опора</a:t>
            </a:r>
            <a:r>
              <a:rPr sz="1300" b="1" i="0" u="none" cap="none" dirty="0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1" i="0" u="none" cap="none" dirty="0" err="1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на</a:t>
            </a:r>
            <a:r>
              <a:rPr sz="1300" b="1" i="0" u="none" cap="none" dirty="0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1" i="0" u="none" cap="none" dirty="0" err="1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источники</a:t>
            </a:r>
            <a:endParaRPr sz="1300" b="1" i="0" u="none" cap="none" dirty="0">
              <a:solidFill>
                <a:srgbClr val="065AE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4" name="Google Shape;234;p22">
            <a:extLst>
              <a:ext uri="{FF2B5EF4-FFF2-40B4-BE49-F238E27FC236}">
                <a16:creationId xmlns:a16="http://schemas.microsoft.com/office/drawing/2014/main" id="{339F8980-7BED-4AAD-B663-91C00DABFF22}"/>
              </a:ext>
            </a:extLst>
          </p:cNvPr>
          <p:cNvSpPr>
            <a:spLocks noGrp="1"/>
          </p:cNvSpPr>
          <p:nvPr/>
        </p:nvSpPr>
        <p:spPr>
          <a:xfrm>
            <a:off x="457200" y="1719072"/>
            <a:ext cx="393192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Факты соответствуют заголовку, параметрам и фото. Общие оценочные слова («надёжный», «качественный») не штрафуются.</a:t>
            </a:r>
          </a:p>
        </p:txBody>
      </p:sp>
      <p:sp>
        <p:nvSpPr>
          <p:cNvPr id="235" name="Google Shape;235;p22">
            <a:extLst>
              <a:ext uri="{FF2B5EF4-FFF2-40B4-BE49-F238E27FC236}">
                <a16:creationId xmlns:a16="http://schemas.microsoft.com/office/drawing/2014/main" id="{3B1C590A-B303-4591-9266-F626A5AF007C}"/>
              </a:ext>
            </a:extLst>
          </p:cNvPr>
          <p:cNvSpPr>
            <a:spLocks noGrp="1"/>
          </p:cNvSpPr>
          <p:nvPr/>
        </p:nvSpPr>
        <p:spPr>
          <a:xfrm>
            <a:off x="4754880" y="1261872"/>
            <a:ext cx="4160520" cy="1536192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2">
            <a:extLst>
              <a:ext uri="{FF2B5EF4-FFF2-40B4-BE49-F238E27FC236}">
                <a16:creationId xmlns:a16="http://schemas.microsoft.com/office/drawing/2014/main" id="{76294D88-9B6C-4DF6-8D81-B99D243B2978}"/>
              </a:ext>
            </a:extLst>
          </p:cNvPr>
          <p:cNvSpPr>
            <a:spLocks noGrp="1"/>
          </p:cNvSpPr>
          <p:nvPr/>
        </p:nvSpPr>
        <p:spPr>
          <a:xfrm>
            <a:off x="4754880" y="1261872"/>
            <a:ext cx="4160520" cy="5486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2">
            <a:extLst>
              <a:ext uri="{FF2B5EF4-FFF2-40B4-BE49-F238E27FC236}">
                <a16:creationId xmlns:a16="http://schemas.microsoft.com/office/drawing/2014/main" id="{55662BDC-45B3-4A5F-9002-001E4C5E56A8}"/>
              </a:ext>
            </a:extLst>
          </p:cNvPr>
          <p:cNvSpPr>
            <a:spLocks noGrp="1"/>
          </p:cNvSpPr>
          <p:nvPr/>
        </p:nvSpPr>
        <p:spPr>
          <a:xfrm>
            <a:off x="4892040" y="135331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Использование фото</a:t>
            </a:r>
          </a:p>
        </p:txBody>
      </p:sp>
      <p:sp>
        <p:nvSpPr>
          <p:cNvPr id="238" name="Google Shape;238;p22">
            <a:extLst>
              <a:ext uri="{FF2B5EF4-FFF2-40B4-BE49-F238E27FC236}">
                <a16:creationId xmlns:a16="http://schemas.microsoft.com/office/drawing/2014/main" id="{5E479B7C-E32E-4ADE-98A8-311891A43131}"/>
              </a:ext>
            </a:extLst>
          </p:cNvPr>
          <p:cNvSpPr>
            <a:spLocks noGrp="1"/>
          </p:cNvSpPr>
          <p:nvPr/>
        </p:nvSpPr>
        <p:spPr>
          <a:xfrm>
            <a:off x="4892040" y="1719072"/>
            <a:ext cx="393192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Модель учитывает визуальный контекст из фотографии товара.</a:t>
            </a:r>
          </a:p>
        </p:txBody>
      </p:sp>
      <p:sp>
        <p:nvSpPr>
          <p:cNvPr id="239" name="Google Shape;239;p22">
            <a:extLst>
              <a:ext uri="{FF2B5EF4-FFF2-40B4-BE49-F238E27FC236}">
                <a16:creationId xmlns:a16="http://schemas.microsoft.com/office/drawing/2014/main" id="{4AD78DA2-E202-4153-84CE-DFF9E96537A4}"/>
              </a:ext>
            </a:extLst>
          </p:cNvPr>
          <p:cNvSpPr>
            <a:spLocks noGrp="1"/>
          </p:cNvSpPr>
          <p:nvPr/>
        </p:nvSpPr>
        <p:spPr>
          <a:xfrm>
            <a:off x="320040" y="2980944"/>
            <a:ext cx="4160520" cy="1536192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2">
            <a:extLst>
              <a:ext uri="{FF2B5EF4-FFF2-40B4-BE49-F238E27FC236}">
                <a16:creationId xmlns:a16="http://schemas.microsoft.com/office/drawing/2014/main" id="{9EB16DEC-1D0B-477A-A56C-AB8B5D4284D8}"/>
              </a:ext>
            </a:extLst>
          </p:cNvPr>
          <p:cNvSpPr>
            <a:spLocks noGrp="1"/>
          </p:cNvSpPr>
          <p:nvPr/>
        </p:nvSpPr>
        <p:spPr>
          <a:xfrm>
            <a:off x="320040" y="2980944"/>
            <a:ext cx="4160520" cy="54864"/>
          </a:xfrm>
          <a:prstGeom prst="rect">
            <a:avLst/>
          </a:prstGeom>
          <a:solidFill>
            <a:srgbClr val="0D1B4B"/>
          </a:solidFill>
          <a:ln w="12700" cmpd="sng">
            <a:solidFill>
              <a:srgbClr val="0D1B4B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2">
            <a:extLst>
              <a:ext uri="{FF2B5EF4-FFF2-40B4-BE49-F238E27FC236}">
                <a16:creationId xmlns:a16="http://schemas.microsoft.com/office/drawing/2014/main" id="{5FAD4983-FE2C-4BCF-AD82-E7ACFEBBD063}"/>
              </a:ext>
            </a:extLst>
          </p:cNvPr>
          <p:cNvSpPr>
            <a:spLocks noGrp="1"/>
          </p:cNvSpPr>
          <p:nvPr/>
        </p:nvSpPr>
        <p:spPr>
          <a:xfrm>
            <a:off x="457200" y="307238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0D1B4B"/>
                </a:solidFill>
                <a:latin typeface="Calibri"/>
                <a:ea typeface="Calibri"/>
                <a:cs typeface="Calibri"/>
              </a:rPr>
              <a:t>Соблюдение задачи</a:t>
            </a:r>
          </a:p>
        </p:txBody>
      </p:sp>
      <p:sp>
        <p:nvSpPr>
          <p:cNvPr id="242" name="Google Shape;242;p22">
            <a:extLst>
              <a:ext uri="{FF2B5EF4-FFF2-40B4-BE49-F238E27FC236}">
                <a16:creationId xmlns:a16="http://schemas.microsoft.com/office/drawing/2014/main" id="{2A47F93A-767D-4A62-8929-9DDAC0968290}"/>
              </a:ext>
            </a:extLst>
          </p:cNvPr>
          <p:cNvSpPr>
            <a:spLocks noGrp="1"/>
          </p:cNvSpPr>
          <p:nvPr/>
        </p:nvSpPr>
        <p:spPr>
          <a:xfrm>
            <a:off x="457200" y="3438144"/>
            <a:ext cx="393192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Текст является описанием товара. Приветствия, emoji, «звоните» — норма для Авито, не штрафовать.</a:t>
            </a:r>
          </a:p>
        </p:txBody>
      </p:sp>
      <p:sp>
        <p:nvSpPr>
          <p:cNvPr id="243" name="Google Shape;243;p22">
            <a:extLst>
              <a:ext uri="{FF2B5EF4-FFF2-40B4-BE49-F238E27FC236}">
                <a16:creationId xmlns:a16="http://schemas.microsoft.com/office/drawing/2014/main" id="{A6D7C595-CE5D-4406-921F-E1A7358198B9}"/>
              </a:ext>
            </a:extLst>
          </p:cNvPr>
          <p:cNvSpPr>
            <a:spLocks noGrp="1"/>
          </p:cNvSpPr>
          <p:nvPr/>
        </p:nvSpPr>
        <p:spPr>
          <a:xfrm>
            <a:off x="4754880" y="2980944"/>
            <a:ext cx="4160520" cy="1536192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2">
            <a:extLst>
              <a:ext uri="{FF2B5EF4-FFF2-40B4-BE49-F238E27FC236}">
                <a16:creationId xmlns:a16="http://schemas.microsoft.com/office/drawing/2014/main" id="{A60B07F4-282F-47C9-BE58-211D342A6D81}"/>
              </a:ext>
            </a:extLst>
          </p:cNvPr>
          <p:cNvSpPr>
            <a:spLocks noGrp="1"/>
          </p:cNvSpPr>
          <p:nvPr/>
        </p:nvSpPr>
        <p:spPr>
          <a:xfrm>
            <a:off x="4754880" y="2980944"/>
            <a:ext cx="4160520" cy="54864"/>
          </a:xfrm>
          <a:prstGeom prst="rect">
            <a:avLst/>
          </a:prstGeom>
          <a:solidFill>
            <a:srgbClr val="0D1B4B"/>
          </a:solidFill>
          <a:ln w="12700" cmpd="sng">
            <a:solidFill>
              <a:srgbClr val="0D1B4B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2">
            <a:extLst>
              <a:ext uri="{FF2B5EF4-FFF2-40B4-BE49-F238E27FC236}">
                <a16:creationId xmlns:a16="http://schemas.microsoft.com/office/drawing/2014/main" id="{3CBE890D-0E77-4637-A496-E933B74D4CC9}"/>
              </a:ext>
            </a:extLst>
          </p:cNvPr>
          <p:cNvSpPr>
            <a:spLocks noGrp="1"/>
          </p:cNvSpPr>
          <p:nvPr/>
        </p:nvSpPr>
        <p:spPr>
          <a:xfrm>
            <a:off x="4892040" y="3072384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0D1B4B"/>
                </a:solidFill>
                <a:latin typeface="Calibri"/>
                <a:ea typeface="Calibri"/>
                <a:cs typeface="Calibri"/>
              </a:rPr>
              <a:t>Качество текста</a:t>
            </a:r>
          </a:p>
        </p:txBody>
      </p:sp>
      <p:sp>
        <p:nvSpPr>
          <p:cNvPr id="246" name="Google Shape;246;p22">
            <a:extLst>
              <a:ext uri="{FF2B5EF4-FFF2-40B4-BE49-F238E27FC236}">
                <a16:creationId xmlns:a16="http://schemas.microsoft.com/office/drawing/2014/main" id="{86D0F04C-CCF5-405E-8456-DA460F7EB97D}"/>
              </a:ext>
            </a:extLst>
          </p:cNvPr>
          <p:cNvSpPr>
            <a:spLocks noGrp="1"/>
          </p:cNvSpPr>
          <p:nvPr/>
        </p:nvSpPr>
        <p:spPr>
          <a:xfrm>
            <a:off x="4892040" y="3438144"/>
            <a:ext cx="393192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Грамотность, пунктуация, естественный стиль. Штраф за роботный или дёрганый текст.</a:t>
            </a:r>
          </a:p>
        </p:txBody>
      </p:sp>
    </p:spTree>
    <p:extLst>
      <p:ext uri="{BB962C8B-B14F-4D97-AF65-F5344CB8AC3E}">
        <p14:creationId xmlns:p14="http://schemas.microsoft.com/office/powerpoint/2010/main" val="1152169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>
            <a:extLst>
              <a:ext uri="{FF2B5EF4-FFF2-40B4-BE49-F238E27FC236}">
                <a16:creationId xmlns:a16="http://schemas.microsoft.com/office/drawing/2014/main" id="{B659AA68-FFAB-408D-9E8E-23B2DFA4A8AB}"/>
              </a:ext>
            </a:extLst>
          </p:cNvPr>
          <p:cNvSpPr>
            <a:spLocks noGrp="1"/>
          </p:cNvSpPr>
          <p:nvPr/>
        </p:nvSpPr>
        <p:spPr>
          <a:xfrm>
            <a:off x="320040" y="246888"/>
            <a:ext cx="54864" cy="42062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3">
            <a:extLst>
              <a:ext uri="{FF2B5EF4-FFF2-40B4-BE49-F238E27FC236}">
                <a16:creationId xmlns:a16="http://schemas.microsoft.com/office/drawing/2014/main" id="{5AA87328-DA8B-4803-8F20-5708448FEAAD}"/>
              </a:ext>
            </a:extLst>
          </p:cNvPr>
          <p:cNvSpPr>
            <a:spLocks noGrp="1"/>
          </p:cNvSpPr>
          <p:nvPr/>
        </p:nvSpPr>
        <p:spPr>
          <a:xfrm>
            <a:off x="457200" y="201168"/>
            <a:ext cx="8366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Что мы попробовали</a:t>
            </a:r>
          </a:p>
        </p:txBody>
      </p:sp>
      <p:sp>
        <p:nvSpPr>
          <p:cNvPr id="254" name="Google Shape;254;p23">
            <a:extLst>
              <a:ext uri="{FF2B5EF4-FFF2-40B4-BE49-F238E27FC236}">
                <a16:creationId xmlns:a16="http://schemas.microsoft.com/office/drawing/2014/main" id="{9F420659-0A6F-4C99-A718-F46762AA4222}"/>
              </a:ext>
            </a:extLst>
          </p:cNvPr>
          <p:cNvSpPr>
            <a:spLocks noGrp="1"/>
          </p:cNvSpPr>
          <p:nvPr/>
        </p:nvSpPr>
        <p:spPr>
          <a:xfrm>
            <a:off x="320040" y="804672"/>
            <a:ext cx="8503920" cy="676656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3">
            <a:extLst>
              <a:ext uri="{FF2B5EF4-FFF2-40B4-BE49-F238E27FC236}">
                <a16:creationId xmlns:a16="http://schemas.microsoft.com/office/drawing/2014/main" id="{AAF9832D-7F32-4B07-A641-34D29AD6CD31}"/>
              </a:ext>
            </a:extLst>
          </p:cNvPr>
          <p:cNvSpPr>
            <a:spLocks noGrp="1"/>
          </p:cNvSpPr>
          <p:nvPr/>
        </p:nvSpPr>
        <p:spPr>
          <a:xfrm>
            <a:off x="320040" y="804672"/>
            <a:ext cx="54864" cy="676656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3">
            <a:extLst>
              <a:ext uri="{FF2B5EF4-FFF2-40B4-BE49-F238E27FC236}">
                <a16:creationId xmlns:a16="http://schemas.microsoft.com/office/drawing/2014/main" id="{04790936-DD43-4013-8799-3EECD7E81FE5}"/>
              </a:ext>
            </a:extLst>
          </p:cNvPr>
          <p:cNvSpPr>
            <a:spLocks noGrp="1"/>
          </p:cNvSpPr>
          <p:nvPr/>
        </p:nvSpPr>
        <p:spPr>
          <a:xfrm>
            <a:off x="475488" y="804672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Vanilla VLM</a:t>
            </a:r>
          </a:p>
        </p:txBody>
      </p:sp>
      <p:sp>
        <p:nvSpPr>
          <p:cNvPr id="257" name="Google Shape;257;p23">
            <a:extLst>
              <a:ext uri="{FF2B5EF4-FFF2-40B4-BE49-F238E27FC236}">
                <a16:creationId xmlns:a16="http://schemas.microsoft.com/office/drawing/2014/main" id="{D92AFD29-F970-4210-B56A-A53E009F4826}"/>
              </a:ext>
            </a:extLst>
          </p:cNvPr>
          <p:cNvSpPr>
            <a:spLocks noGrp="1"/>
          </p:cNvSpPr>
          <p:nvPr/>
        </p:nvSpPr>
        <p:spPr>
          <a:xfrm>
            <a:off x="2880360" y="804672"/>
            <a:ext cx="43891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Базовая</a:t>
            </a:r>
            <a:r>
              <a:rPr sz="1200" b="0" i="0" u="none" cap="none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0" i="0" u="none" cap="none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VL </a:t>
            </a:r>
            <a:r>
              <a:rPr sz="1200" b="0" i="0" u="non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модель</a:t>
            </a:r>
            <a:r>
              <a:rPr sz="1200" b="0" i="0" u="none" cap="none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Qwen </a:t>
            </a:r>
            <a:r>
              <a:rPr sz="1200" b="0" i="0" u="non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без</a:t>
            </a:r>
            <a:r>
              <a:rPr sz="1200" b="0" i="0" u="none" cap="none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u="non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дообучения</a:t>
            </a:r>
            <a:endParaRPr sz="1200" b="0" i="0" u="none" cap="none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Google Shape;258;p23">
            <a:extLst>
              <a:ext uri="{FF2B5EF4-FFF2-40B4-BE49-F238E27FC236}">
                <a16:creationId xmlns:a16="http://schemas.microsoft.com/office/drawing/2014/main" id="{90C67930-B38F-42FA-A346-87E51E6A244F}"/>
              </a:ext>
            </a:extLst>
          </p:cNvPr>
          <p:cNvSpPr>
            <a:spLocks noGrp="1"/>
          </p:cNvSpPr>
          <p:nvPr/>
        </p:nvSpPr>
        <p:spPr>
          <a:xfrm>
            <a:off x="320040" y="1591056"/>
            <a:ext cx="8503920" cy="676656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>
            <a:extLst>
              <a:ext uri="{FF2B5EF4-FFF2-40B4-BE49-F238E27FC236}">
                <a16:creationId xmlns:a16="http://schemas.microsoft.com/office/drawing/2014/main" id="{EC9482C4-7C4A-4C20-BF89-9AC0F0D2340D}"/>
              </a:ext>
            </a:extLst>
          </p:cNvPr>
          <p:cNvSpPr>
            <a:spLocks noGrp="1"/>
          </p:cNvSpPr>
          <p:nvPr/>
        </p:nvSpPr>
        <p:spPr>
          <a:xfrm>
            <a:off x="320040" y="1591056"/>
            <a:ext cx="54864" cy="676656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>
            <a:extLst>
              <a:ext uri="{FF2B5EF4-FFF2-40B4-BE49-F238E27FC236}">
                <a16:creationId xmlns:a16="http://schemas.microsoft.com/office/drawing/2014/main" id="{7F523ED1-0F0B-4E04-98A7-24B5D7F2123B}"/>
              </a:ext>
            </a:extLst>
          </p:cNvPr>
          <p:cNvSpPr>
            <a:spLocks noGrp="1"/>
          </p:cNvSpPr>
          <p:nvPr/>
        </p:nvSpPr>
        <p:spPr>
          <a:xfrm>
            <a:off x="475488" y="1591056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SFT VLM</a:t>
            </a:r>
          </a:p>
        </p:txBody>
      </p:sp>
      <p:sp>
        <p:nvSpPr>
          <p:cNvPr id="261" name="Google Shape;261;p23">
            <a:extLst>
              <a:ext uri="{FF2B5EF4-FFF2-40B4-BE49-F238E27FC236}">
                <a16:creationId xmlns:a16="http://schemas.microsoft.com/office/drawing/2014/main" id="{0DECC2DD-D59A-4126-9A03-EC06DCF015CB}"/>
              </a:ext>
            </a:extLst>
          </p:cNvPr>
          <p:cNvSpPr>
            <a:spLocks noGrp="1"/>
          </p:cNvSpPr>
          <p:nvPr/>
        </p:nvSpPr>
        <p:spPr>
          <a:xfrm>
            <a:off x="2880360" y="1591056"/>
            <a:ext cx="43891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Qwen после SFT отобранных объявлениях</a:t>
            </a:r>
          </a:p>
        </p:txBody>
      </p:sp>
      <p:sp>
        <p:nvSpPr>
          <p:cNvPr id="262" name="Google Shape;262;p23">
            <a:extLst>
              <a:ext uri="{FF2B5EF4-FFF2-40B4-BE49-F238E27FC236}">
                <a16:creationId xmlns:a16="http://schemas.microsoft.com/office/drawing/2014/main" id="{1A0F7A0A-6518-4825-B709-DBED46655E64}"/>
              </a:ext>
            </a:extLst>
          </p:cNvPr>
          <p:cNvSpPr>
            <a:spLocks noGrp="1"/>
          </p:cNvSpPr>
          <p:nvPr/>
        </p:nvSpPr>
        <p:spPr>
          <a:xfrm>
            <a:off x="320040" y="2377440"/>
            <a:ext cx="8503920" cy="676656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3">
            <a:extLst>
              <a:ext uri="{FF2B5EF4-FFF2-40B4-BE49-F238E27FC236}">
                <a16:creationId xmlns:a16="http://schemas.microsoft.com/office/drawing/2014/main" id="{2089A0E3-DC13-4AE8-9E37-EE81B84DB8DF}"/>
              </a:ext>
            </a:extLst>
          </p:cNvPr>
          <p:cNvSpPr>
            <a:spLocks noGrp="1"/>
          </p:cNvSpPr>
          <p:nvPr/>
        </p:nvSpPr>
        <p:spPr>
          <a:xfrm>
            <a:off x="320040" y="2377440"/>
            <a:ext cx="54864" cy="676656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3">
            <a:extLst>
              <a:ext uri="{FF2B5EF4-FFF2-40B4-BE49-F238E27FC236}">
                <a16:creationId xmlns:a16="http://schemas.microsoft.com/office/drawing/2014/main" id="{2196F554-BC74-4A35-A56B-318C636D30B1}"/>
              </a:ext>
            </a:extLst>
          </p:cNvPr>
          <p:cNvSpPr>
            <a:spLocks noGrp="1"/>
          </p:cNvSpPr>
          <p:nvPr/>
        </p:nvSpPr>
        <p:spPr>
          <a:xfrm>
            <a:off x="475488" y="2377440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Cross Attention</a:t>
            </a:r>
          </a:p>
        </p:txBody>
      </p:sp>
      <p:sp>
        <p:nvSpPr>
          <p:cNvPr id="265" name="Google Shape;265;p23">
            <a:extLst>
              <a:ext uri="{FF2B5EF4-FFF2-40B4-BE49-F238E27FC236}">
                <a16:creationId xmlns:a16="http://schemas.microsoft.com/office/drawing/2014/main" id="{0C3741ED-77D4-46BA-8AA9-2BF7AEC740F2}"/>
              </a:ext>
            </a:extLst>
          </p:cNvPr>
          <p:cNvSpPr>
            <a:spLocks noGrp="1"/>
          </p:cNvSpPr>
          <p:nvPr/>
        </p:nvSpPr>
        <p:spPr>
          <a:xfrm>
            <a:off x="2880360" y="2377440"/>
            <a:ext cx="43891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Модификация архитектуры с cross-attention слоями</a:t>
            </a:r>
          </a:p>
        </p:txBody>
      </p:sp>
      <p:sp>
        <p:nvSpPr>
          <p:cNvPr id="266" name="Google Shape;266;p23">
            <a:extLst>
              <a:ext uri="{FF2B5EF4-FFF2-40B4-BE49-F238E27FC236}">
                <a16:creationId xmlns:a16="http://schemas.microsoft.com/office/drawing/2014/main" id="{BB66674A-109A-48E3-BF4E-F9B5B72BF0CD}"/>
              </a:ext>
            </a:extLst>
          </p:cNvPr>
          <p:cNvSpPr>
            <a:spLocks noGrp="1"/>
          </p:cNvSpPr>
          <p:nvPr/>
        </p:nvSpPr>
        <p:spPr>
          <a:xfrm>
            <a:off x="320040" y="3163824"/>
            <a:ext cx="8503920" cy="676656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7" name="Google Shape;267;p23">
            <a:extLst>
              <a:ext uri="{FF2B5EF4-FFF2-40B4-BE49-F238E27FC236}">
                <a16:creationId xmlns:a16="http://schemas.microsoft.com/office/drawing/2014/main" id="{0A445D81-B7D8-42FB-9A02-10E56C3EA96D}"/>
              </a:ext>
            </a:extLst>
          </p:cNvPr>
          <p:cNvSpPr>
            <a:spLocks noGrp="1"/>
          </p:cNvSpPr>
          <p:nvPr/>
        </p:nvSpPr>
        <p:spPr>
          <a:xfrm>
            <a:off x="320040" y="3163824"/>
            <a:ext cx="54864" cy="676656"/>
          </a:xfrm>
          <a:prstGeom prst="rect">
            <a:avLst/>
          </a:prstGeom>
          <a:solidFill>
            <a:srgbClr val="F97316"/>
          </a:solidFill>
          <a:ln w="12700" cmpd="sng">
            <a:solidFill>
              <a:srgbClr val="F97316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3">
            <a:extLst>
              <a:ext uri="{FF2B5EF4-FFF2-40B4-BE49-F238E27FC236}">
                <a16:creationId xmlns:a16="http://schemas.microsoft.com/office/drawing/2014/main" id="{978FC800-8336-4B19-B247-27CD4B12C318}"/>
              </a:ext>
            </a:extLst>
          </p:cNvPr>
          <p:cNvSpPr>
            <a:spLocks noGrp="1"/>
          </p:cNvSpPr>
          <p:nvPr/>
        </p:nvSpPr>
        <p:spPr>
          <a:xfrm>
            <a:off x="475488" y="3163824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Vanilla </a:t>
            </a:r>
            <a:r>
              <a:rPr sz="1300" b="1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LLM </a:t>
            </a:r>
            <a:r>
              <a:rPr sz="1300" b="1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без</a:t>
            </a:r>
            <a:r>
              <a:rPr sz="1300" b="1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1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фото</a:t>
            </a:r>
            <a:endParaRPr sz="1300" b="1" i="0" u="none" cap="none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9" name="Google Shape;269;p23">
            <a:extLst>
              <a:ext uri="{FF2B5EF4-FFF2-40B4-BE49-F238E27FC236}">
                <a16:creationId xmlns:a16="http://schemas.microsoft.com/office/drawing/2014/main" id="{F68559CD-9106-463E-91CE-0E5591306F5F}"/>
              </a:ext>
            </a:extLst>
          </p:cNvPr>
          <p:cNvSpPr>
            <a:spLocks noGrp="1"/>
          </p:cNvSpPr>
          <p:nvPr/>
        </p:nvSpPr>
        <p:spPr>
          <a:xfrm>
            <a:off x="2880360" y="3163824"/>
            <a:ext cx="43891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r>
              <a:rPr lang="ru-RU" sz="12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Базовая модель </a:t>
            </a:r>
            <a:r>
              <a:rPr lang="ru-RU" sz="1200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Qwen</a:t>
            </a:r>
            <a:r>
              <a:rPr lang="ru-RU" sz="12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без дообучения</a:t>
            </a:r>
          </a:p>
        </p:txBody>
      </p:sp>
      <p:sp>
        <p:nvSpPr>
          <p:cNvPr id="2" name="Google Shape;266;p23">
            <a:extLst>
              <a:ext uri="{FF2B5EF4-FFF2-40B4-BE49-F238E27FC236}">
                <a16:creationId xmlns:a16="http://schemas.microsoft.com/office/drawing/2014/main" id="{7FE55090-9152-D030-8D76-FCC4AEC4FB3C}"/>
              </a:ext>
            </a:extLst>
          </p:cNvPr>
          <p:cNvSpPr>
            <a:spLocks noGrp="1"/>
          </p:cNvSpPr>
          <p:nvPr/>
        </p:nvSpPr>
        <p:spPr>
          <a:xfrm>
            <a:off x="320040" y="3950208"/>
            <a:ext cx="8503920" cy="676656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67;p23">
            <a:extLst>
              <a:ext uri="{FF2B5EF4-FFF2-40B4-BE49-F238E27FC236}">
                <a16:creationId xmlns:a16="http://schemas.microsoft.com/office/drawing/2014/main" id="{198DDC46-C337-E738-3E61-3C5D5AF71E2E}"/>
              </a:ext>
            </a:extLst>
          </p:cNvPr>
          <p:cNvSpPr>
            <a:spLocks noGrp="1"/>
          </p:cNvSpPr>
          <p:nvPr/>
        </p:nvSpPr>
        <p:spPr>
          <a:xfrm>
            <a:off x="320040" y="3950208"/>
            <a:ext cx="54864" cy="676656"/>
          </a:xfrm>
          <a:prstGeom prst="rect">
            <a:avLst/>
          </a:prstGeom>
          <a:solidFill>
            <a:srgbClr val="F97316"/>
          </a:solidFill>
          <a:ln w="12700" cmpd="sng">
            <a:solidFill>
              <a:srgbClr val="F97316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68;p23">
            <a:extLst>
              <a:ext uri="{FF2B5EF4-FFF2-40B4-BE49-F238E27FC236}">
                <a16:creationId xmlns:a16="http://schemas.microsoft.com/office/drawing/2014/main" id="{948AD2D2-B738-8921-D6B0-9780BEFD4F43}"/>
              </a:ext>
            </a:extLst>
          </p:cNvPr>
          <p:cNvSpPr>
            <a:spLocks noGrp="1"/>
          </p:cNvSpPr>
          <p:nvPr/>
        </p:nvSpPr>
        <p:spPr>
          <a:xfrm>
            <a:off x="475488" y="3950208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SFT </a:t>
            </a:r>
            <a:r>
              <a:rPr sz="1300" b="1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LLM </a:t>
            </a:r>
            <a:r>
              <a:rPr sz="1300" b="1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без</a:t>
            </a:r>
            <a:r>
              <a:rPr sz="1300" b="1" i="0" u="none" cap="none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1" i="0" u="non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фото</a:t>
            </a:r>
            <a:endParaRPr sz="1300" b="1" i="0" u="none" cap="none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Google Shape;269;p23">
            <a:extLst>
              <a:ext uri="{FF2B5EF4-FFF2-40B4-BE49-F238E27FC236}">
                <a16:creationId xmlns:a16="http://schemas.microsoft.com/office/drawing/2014/main" id="{83AE0FDF-EA08-E1EF-F206-7CC473ACE157}"/>
              </a:ext>
            </a:extLst>
          </p:cNvPr>
          <p:cNvSpPr>
            <a:spLocks noGrp="1"/>
          </p:cNvSpPr>
          <p:nvPr/>
        </p:nvSpPr>
        <p:spPr>
          <a:xfrm>
            <a:off x="2880360" y="3950208"/>
            <a:ext cx="43891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r>
              <a:rPr lang="ru-RU" sz="12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Дообученная модель </a:t>
            </a:r>
            <a:r>
              <a:rPr lang="ru-RU" sz="1200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Qwen</a:t>
            </a:r>
            <a:endParaRPr lang="ru-RU" sz="1200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0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>
            <a:extLst>
              <a:ext uri="{FF2B5EF4-FFF2-40B4-BE49-F238E27FC236}">
                <a16:creationId xmlns:a16="http://schemas.microsoft.com/office/drawing/2014/main" id="{1F3775F2-5B96-4EF4-816C-08CAD2DF4C45}"/>
              </a:ext>
            </a:extLst>
          </p:cNvPr>
          <p:cNvSpPr>
            <a:spLocks noGrp="1"/>
          </p:cNvSpPr>
          <p:nvPr/>
        </p:nvSpPr>
        <p:spPr>
          <a:xfrm>
            <a:off x="320040" y="246888"/>
            <a:ext cx="54864" cy="42062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4">
            <a:extLst>
              <a:ext uri="{FF2B5EF4-FFF2-40B4-BE49-F238E27FC236}">
                <a16:creationId xmlns:a16="http://schemas.microsoft.com/office/drawing/2014/main" id="{B6B76607-56CF-46E8-A13F-11B9E7126597}"/>
              </a:ext>
            </a:extLst>
          </p:cNvPr>
          <p:cNvSpPr>
            <a:spLocks noGrp="1"/>
          </p:cNvSpPr>
          <p:nvPr/>
        </p:nvSpPr>
        <p:spPr>
          <a:xfrm>
            <a:off x="457200" y="201168"/>
            <a:ext cx="8366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Результаты: сравнение подходов</a:t>
            </a:r>
          </a:p>
        </p:txBody>
      </p:sp>
      <p:sp>
        <p:nvSpPr>
          <p:cNvPr id="277" name="Google Shape;277;p24">
            <a:extLst>
              <a:ext uri="{FF2B5EF4-FFF2-40B4-BE49-F238E27FC236}">
                <a16:creationId xmlns:a16="http://schemas.microsoft.com/office/drawing/2014/main" id="{A2FCB7C2-8CE0-4C6C-8CC9-70B848C1A07F}"/>
              </a:ext>
            </a:extLst>
          </p:cNvPr>
          <p:cNvSpPr>
            <a:spLocks noGrp="1"/>
          </p:cNvSpPr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AAA_VLM · 2026</a:t>
            </a:r>
          </a:p>
        </p:txBody>
      </p:sp>
      <p:sp>
        <p:nvSpPr>
          <p:cNvPr id="278" name="Google Shape;278;p24">
            <a:extLst>
              <a:ext uri="{FF2B5EF4-FFF2-40B4-BE49-F238E27FC236}">
                <a16:creationId xmlns:a16="http://schemas.microsoft.com/office/drawing/2014/main" id="{F863DC1B-60F6-4A17-9A2E-579202014C28}"/>
              </a:ext>
            </a:extLst>
          </p:cNvPr>
          <p:cNvSpPr>
            <a:spLocks noGrp="1"/>
          </p:cNvSpPr>
          <p:nvPr/>
        </p:nvSpPr>
        <p:spPr>
          <a:xfrm>
            <a:off x="397750" y="1303175"/>
            <a:ext cx="1436100" cy="1872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4">
            <a:extLst>
              <a:ext uri="{FF2B5EF4-FFF2-40B4-BE49-F238E27FC236}">
                <a16:creationId xmlns:a16="http://schemas.microsoft.com/office/drawing/2014/main" id="{E6641848-5F4E-4B75-AE3A-1BE65D0BBA6C}"/>
              </a:ext>
            </a:extLst>
          </p:cNvPr>
          <p:cNvSpPr>
            <a:spLocks noGrp="1"/>
          </p:cNvSpPr>
          <p:nvPr/>
        </p:nvSpPr>
        <p:spPr>
          <a:xfrm>
            <a:off x="397750" y="1303175"/>
            <a:ext cx="1436100" cy="99000"/>
          </a:xfrm>
          <a:prstGeom prst="rect">
            <a:avLst/>
          </a:prstGeom>
          <a:solidFill>
            <a:srgbClr val="3D7A0A"/>
          </a:solidFill>
          <a:ln w="12700" cmpd="sng">
            <a:solidFill>
              <a:srgbClr val="3D7A0A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4">
            <a:extLst>
              <a:ext uri="{FF2B5EF4-FFF2-40B4-BE49-F238E27FC236}">
                <a16:creationId xmlns:a16="http://schemas.microsoft.com/office/drawing/2014/main" id="{81A5B1A8-C2E8-4A00-BA04-94DBBCAAE75B}"/>
              </a:ext>
            </a:extLst>
          </p:cNvPr>
          <p:cNvSpPr>
            <a:spLocks noGrp="1"/>
          </p:cNvSpPr>
          <p:nvPr/>
        </p:nvSpPr>
        <p:spPr>
          <a:xfrm>
            <a:off x="397750" y="1402455"/>
            <a:ext cx="14361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u="none" cap="none">
                <a:solidFill>
                  <a:srgbClr val="3D7A0A"/>
                </a:solidFill>
                <a:latin typeface="Calibri"/>
                <a:ea typeface="Calibri"/>
                <a:cs typeface="Calibri"/>
              </a:rPr>
              <a:t>0.</a:t>
            </a:r>
            <a:r>
              <a:rPr lang="en-US" sz="3200" b="1" i="0" u="none" cap="none">
                <a:solidFill>
                  <a:srgbClr val="3D7A0A"/>
                </a:solidFill>
                <a:latin typeface="Calibri"/>
                <a:ea typeface="Calibri"/>
                <a:cs typeface="Calibri"/>
              </a:rPr>
              <a:t>69</a:t>
            </a:r>
            <a:endParaRPr sz="3200" b="1" i="0" u="none" cap="none">
              <a:solidFill>
                <a:srgbClr val="3D7A0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Google Shape;281;p24">
            <a:extLst>
              <a:ext uri="{FF2B5EF4-FFF2-40B4-BE49-F238E27FC236}">
                <a16:creationId xmlns:a16="http://schemas.microsoft.com/office/drawing/2014/main" id="{6C6FDB19-CB2B-4022-8313-1A11A7419EBD}"/>
              </a:ext>
            </a:extLst>
          </p:cNvPr>
          <p:cNvSpPr>
            <a:spLocks noGrp="1"/>
          </p:cNvSpPr>
          <p:nvPr/>
        </p:nvSpPr>
        <p:spPr>
          <a:xfrm>
            <a:off x="397750" y="2437801"/>
            <a:ext cx="1436100" cy="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Vanilla VLM</a:t>
            </a:r>
          </a:p>
        </p:txBody>
      </p:sp>
      <p:sp>
        <p:nvSpPr>
          <p:cNvPr id="282" name="Google Shape;282;p24">
            <a:extLst>
              <a:ext uri="{FF2B5EF4-FFF2-40B4-BE49-F238E27FC236}">
                <a16:creationId xmlns:a16="http://schemas.microsoft.com/office/drawing/2014/main" id="{2BF108F1-C9FB-4339-9770-0D605F2C01F3}"/>
              </a:ext>
            </a:extLst>
          </p:cNvPr>
          <p:cNvSpPr>
            <a:spLocks noGrp="1"/>
          </p:cNvSpPr>
          <p:nvPr/>
        </p:nvSpPr>
        <p:spPr>
          <a:xfrm>
            <a:off x="3801600" y="1303175"/>
            <a:ext cx="1436100" cy="1872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4">
            <a:extLst>
              <a:ext uri="{FF2B5EF4-FFF2-40B4-BE49-F238E27FC236}">
                <a16:creationId xmlns:a16="http://schemas.microsoft.com/office/drawing/2014/main" id="{80CC9BAC-2180-4A9B-8E87-D50F05AAC6FB}"/>
              </a:ext>
            </a:extLst>
          </p:cNvPr>
          <p:cNvSpPr>
            <a:spLocks noGrp="1"/>
          </p:cNvSpPr>
          <p:nvPr/>
        </p:nvSpPr>
        <p:spPr>
          <a:xfrm>
            <a:off x="3801600" y="1303175"/>
            <a:ext cx="1436100" cy="99000"/>
          </a:xfrm>
          <a:prstGeom prst="rect">
            <a:avLst/>
          </a:prstGeom>
          <a:solidFill>
            <a:srgbClr val="EF4444"/>
          </a:solidFill>
          <a:ln w="12700" cmpd="sng">
            <a:solidFill>
              <a:srgbClr val="EF4444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4">
            <a:extLst>
              <a:ext uri="{FF2B5EF4-FFF2-40B4-BE49-F238E27FC236}">
                <a16:creationId xmlns:a16="http://schemas.microsoft.com/office/drawing/2014/main" id="{B71A959F-C3DE-49E8-A951-3E0E2D4758EE}"/>
              </a:ext>
            </a:extLst>
          </p:cNvPr>
          <p:cNvSpPr>
            <a:spLocks noGrp="1"/>
          </p:cNvSpPr>
          <p:nvPr/>
        </p:nvSpPr>
        <p:spPr>
          <a:xfrm>
            <a:off x="3801600" y="1402455"/>
            <a:ext cx="14361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cap="none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0.</a:t>
            </a:r>
            <a:r>
              <a:rPr lang="en-US" sz="3200" b="1" i="0" u="none" cap="none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67</a:t>
            </a:r>
            <a:endParaRPr sz="3200" b="1" i="0" u="none" cap="none">
              <a:solidFill>
                <a:srgbClr val="EF44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5" name="Google Shape;285;p24">
            <a:extLst>
              <a:ext uri="{FF2B5EF4-FFF2-40B4-BE49-F238E27FC236}">
                <a16:creationId xmlns:a16="http://schemas.microsoft.com/office/drawing/2014/main" id="{8FEF2C9B-164E-4CA1-AF9B-79F5D6350DE4}"/>
              </a:ext>
            </a:extLst>
          </p:cNvPr>
          <p:cNvSpPr>
            <a:spLocks noGrp="1"/>
          </p:cNvSpPr>
          <p:nvPr/>
        </p:nvSpPr>
        <p:spPr>
          <a:xfrm>
            <a:off x="3801600" y="2437807"/>
            <a:ext cx="1436100" cy="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Cross Attention</a:t>
            </a:r>
          </a:p>
        </p:txBody>
      </p:sp>
      <p:sp>
        <p:nvSpPr>
          <p:cNvPr id="286" name="Google Shape;286;p24">
            <a:extLst>
              <a:ext uri="{FF2B5EF4-FFF2-40B4-BE49-F238E27FC236}">
                <a16:creationId xmlns:a16="http://schemas.microsoft.com/office/drawing/2014/main" id="{5F2431F0-15CC-42EE-ABAE-A6997B74752B}"/>
              </a:ext>
            </a:extLst>
          </p:cNvPr>
          <p:cNvSpPr>
            <a:spLocks noGrp="1"/>
          </p:cNvSpPr>
          <p:nvPr/>
        </p:nvSpPr>
        <p:spPr>
          <a:xfrm>
            <a:off x="5503525" y="1303175"/>
            <a:ext cx="1436100" cy="1872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4">
            <a:extLst>
              <a:ext uri="{FF2B5EF4-FFF2-40B4-BE49-F238E27FC236}">
                <a16:creationId xmlns:a16="http://schemas.microsoft.com/office/drawing/2014/main" id="{3254EB02-505E-4C21-B311-A648A3B1CB7D}"/>
              </a:ext>
            </a:extLst>
          </p:cNvPr>
          <p:cNvSpPr>
            <a:spLocks noGrp="1"/>
          </p:cNvSpPr>
          <p:nvPr/>
        </p:nvSpPr>
        <p:spPr>
          <a:xfrm>
            <a:off x="5503525" y="1303175"/>
            <a:ext cx="1436100" cy="99000"/>
          </a:xfrm>
          <a:prstGeom prst="rect">
            <a:avLst/>
          </a:prstGeom>
          <a:solidFill>
            <a:srgbClr val="64748B"/>
          </a:solidFill>
          <a:ln w="12700" cmpd="sng">
            <a:solidFill>
              <a:srgbClr val="64748B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4">
            <a:extLst>
              <a:ext uri="{FF2B5EF4-FFF2-40B4-BE49-F238E27FC236}">
                <a16:creationId xmlns:a16="http://schemas.microsoft.com/office/drawing/2014/main" id="{B6DB8ABC-33FF-456A-946E-1FD0BA51E906}"/>
              </a:ext>
            </a:extLst>
          </p:cNvPr>
          <p:cNvSpPr>
            <a:spLocks noGrp="1"/>
          </p:cNvSpPr>
          <p:nvPr/>
        </p:nvSpPr>
        <p:spPr>
          <a:xfrm>
            <a:off x="5503525" y="1402455"/>
            <a:ext cx="14361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0.</a:t>
            </a:r>
            <a:r>
              <a:rPr lang="en-US" sz="32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54</a:t>
            </a:r>
            <a:endParaRPr sz="3200" b="1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9" name="Google Shape;289;p24">
            <a:extLst>
              <a:ext uri="{FF2B5EF4-FFF2-40B4-BE49-F238E27FC236}">
                <a16:creationId xmlns:a16="http://schemas.microsoft.com/office/drawing/2014/main" id="{3AF52AF2-2DF0-4550-9184-2BF78ACC8CB0}"/>
              </a:ext>
            </a:extLst>
          </p:cNvPr>
          <p:cNvSpPr>
            <a:spLocks noGrp="1"/>
          </p:cNvSpPr>
          <p:nvPr/>
        </p:nvSpPr>
        <p:spPr>
          <a:xfrm>
            <a:off x="2099675" y="1303175"/>
            <a:ext cx="1436100" cy="1872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2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4">
            <a:extLst>
              <a:ext uri="{FF2B5EF4-FFF2-40B4-BE49-F238E27FC236}">
                <a16:creationId xmlns:a16="http://schemas.microsoft.com/office/drawing/2014/main" id="{C5CF046D-BD4B-4697-9BCC-08AEC5321FAF}"/>
              </a:ext>
            </a:extLst>
          </p:cNvPr>
          <p:cNvSpPr>
            <a:spLocks noGrp="1"/>
          </p:cNvSpPr>
          <p:nvPr/>
        </p:nvSpPr>
        <p:spPr>
          <a:xfrm>
            <a:off x="5503525" y="2437807"/>
            <a:ext cx="1436100" cy="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Vanilla </a:t>
            </a:r>
            <a:r>
              <a:rPr sz="11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LLM без фото</a:t>
            </a:r>
          </a:p>
        </p:txBody>
      </p:sp>
      <p:sp>
        <p:nvSpPr>
          <p:cNvPr id="291" name="Google Shape;291;p24">
            <a:extLst>
              <a:ext uri="{FF2B5EF4-FFF2-40B4-BE49-F238E27FC236}">
                <a16:creationId xmlns:a16="http://schemas.microsoft.com/office/drawing/2014/main" id="{2B0A40F6-A2F1-44BB-A515-BAF411BD32E5}"/>
              </a:ext>
            </a:extLst>
          </p:cNvPr>
          <p:cNvSpPr>
            <a:spLocks noGrp="1"/>
          </p:cNvSpPr>
          <p:nvPr/>
        </p:nvSpPr>
        <p:spPr>
          <a:xfrm>
            <a:off x="2099677" y="2437800"/>
            <a:ext cx="1436100" cy="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SFT VLM</a:t>
            </a:r>
          </a:p>
        </p:txBody>
      </p:sp>
      <p:sp>
        <p:nvSpPr>
          <p:cNvPr id="292" name="Google Shape;292;p24">
            <a:extLst>
              <a:ext uri="{FF2B5EF4-FFF2-40B4-BE49-F238E27FC236}">
                <a16:creationId xmlns:a16="http://schemas.microsoft.com/office/drawing/2014/main" id="{DBD3767B-C014-4A29-A158-B49F8EE67725}"/>
              </a:ext>
            </a:extLst>
          </p:cNvPr>
          <p:cNvSpPr>
            <a:spLocks noGrp="1"/>
          </p:cNvSpPr>
          <p:nvPr/>
        </p:nvSpPr>
        <p:spPr>
          <a:xfrm>
            <a:off x="2099675" y="1402450"/>
            <a:ext cx="14361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0.</a:t>
            </a:r>
            <a:r>
              <a:rPr lang="en-US" sz="32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78</a:t>
            </a:r>
            <a:endParaRPr lang="ru-RU" sz="3200" b="1" i="0" u="none" cap="none">
              <a:solidFill>
                <a:srgbClr val="F9731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3" name="Google Shape;293;p24">
            <a:extLst>
              <a:ext uri="{FF2B5EF4-FFF2-40B4-BE49-F238E27FC236}">
                <a16:creationId xmlns:a16="http://schemas.microsoft.com/office/drawing/2014/main" id="{35D3BCD8-FFFB-44F7-9C0D-30564DB3ED64}"/>
              </a:ext>
            </a:extLst>
          </p:cNvPr>
          <p:cNvSpPr>
            <a:spLocks noGrp="1"/>
          </p:cNvSpPr>
          <p:nvPr/>
        </p:nvSpPr>
        <p:spPr>
          <a:xfrm>
            <a:off x="2099677" y="1303175"/>
            <a:ext cx="1436100" cy="99000"/>
          </a:xfrm>
          <a:prstGeom prst="rect">
            <a:avLst/>
          </a:prstGeom>
          <a:solidFill>
            <a:srgbClr val="F97316"/>
          </a:solidFill>
          <a:ln w="12700" cmpd="sng">
            <a:solidFill>
              <a:srgbClr val="F97316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4">
            <a:extLst>
              <a:ext uri="{FF2B5EF4-FFF2-40B4-BE49-F238E27FC236}">
                <a16:creationId xmlns:a16="http://schemas.microsoft.com/office/drawing/2014/main" id="{DA3854A5-71BE-42D8-A0D8-4DAD9908338D}"/>
              </a:ext>
            </a:extLst>
          </p:cNvPr>
          <p:cNvSpPr>
            <a:spLocks noGrp="1"/>
          </p:cNvSpPr>
          <p:nvPr/>
        </p:nvSpPr>
        <p:spPr>
          <a:xfrm>
            <a:off x="7205450" y="1303175"/>
            <a:ext cx="1436100" cy="1872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2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4">
            <a:extLst>
              <a:ext uri="{FF2B5EF4-FFF2-40B4-BE49-F238E27FC236}">
                <a16:creationId xmlns:a16="http://schemas.microsoft.com/office/drawing/2014/main" id="{76AA2011-B011-460F-BC20-B21625DE9FFE}"/>
              </a:ext>
            </a:extLst>
          </p:cNvPr>
          <p:cNvSpPr>
            <a:spLocks noGrp="1"/>
          </p:cNvSpPr>
          <p:nvPr/>
        </p:nvSpPr>
        <p:spPr>
          <a:xfrm>
            <a:off x="7205450" y="1303175"/>
            <a:ext cx="1436100" cy="99000"/>
          </a:xfrm>
          <a:prstGeom prst="rect">
            <a:avLst/>
          </a:prstGeom>
          <a:solidFill>
            <a:srgbClr val="3C78D8"/>
          </a:solidFill>
          <a:ln w="12700" cmpd="sng">
            <a:solidFill>
              <a:srgbClr val="64748B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4">
            <a:extLst>
              <a:ext uri="{FF2B5EF4-FFF2-40B4-BE49-F238E27FC236}">
                <a16:creationId xmlns:a16="http://schemas.microsoft.com/office/drawing/2014/main" id="{34FA298F-FE22-41F4-8266-F7DAAA347FB9}"/>
              </a:ext>
            </a:extLst>
          </p:cNvPr>
          <p:cNvSpPr>
            <a:spLocks noGrp="1"/>
          </p:cNvSpPr>
          <p:nvPr/>
        </p:nvSpPr>
        <p:spPr>
          <a:xfrm>
            <a:off x="7205450" y="1402455"/>
            <a:ext cx="14361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3C78D8"/>
                </a:solidFill>
                <a:latin typeface="Calibri"/>
                <a:ea typeface="Calibri"/>
                <a:cs typeface="Calibri"/>
              </a:rPr>
              <a:t>0.</a:t>
            </a:r>
            <a:r>
              <a:rPr lang="en-US" sz="3200" b="1">
                <a:solidFill>
                  <a:srgbClr val="3C78D8"/>
                </a:solidFill>
                <a:latin typeface="Calibri"/>
                <a:ea typeface="Calibri"/>
                <a:cs typeface="Calibri"/>
              </a:rPr>
              <a:t>7</a:t>
            </a:r>
            <a:endParaRPr sz="3200" b="1">
              <a:solidFill>
                <a:srgbClr val="3C78D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Google Shape;297;p24">
            <a:extLst>
              <a:ext uri="{FF2B5EF4-FFF2-40B4-BE49-F238E27FC236}">
                <a16:creationId xmlns:a16="http://schemas.microsoft.com/office/drawing/2014/main" id="{08BBAC3D-7C52-4F10-963E-9A7C550B69FD}"/>
              </a:ext>
            </a:extLst>
          </p:cNvPr>
          <p:cNvSpPr>
            <a:spLocks noGrp="1"/>
          </p:cNvSpPr>
          <p:nvPr/>
        </p:nvSpPr>
        <p:spPr>
          <a:xfrm>
            <a:off x="7205450" y="2437807"/>
            <a:ext cx="1436100" cy="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SFT </a:t>
            </a:r>
            <a:r>
              <a:rPr sz="11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LLM без фото</a:t>
            </a:r>
          </a:p>
        </p:txBody>
      </p:sp>
    </p:spTree>
    <p:extLst>
      <p:ext uri="{BB962C8B-B14F-4D97-AF65-F5344CB8AC3E}">
        <p14:creationId xmlns:p14="http://schemas.microsoft.com/office/powerpoint/2010/main" val="1709252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>
            <a:extLst>
              <a:ext uri="{FF2B5EF4-FFF2-40B4-BE49-F238E27FC236}">
                <a16:creationId xmlns:a16="http://schemas.microsoft.com/office/drawing/2014/main" id="{94CA8DE3-E591-46C5-B49A-25F613610CA4}"/>
              </a:ext>
            </a:extLst>
          </p:cNvPr>
          <p:cNvSpPr>
            <a:spLocks noGrp="1"/>
          </p:cNvSpPr>
          <p:nvPr/>
        </p:nvSpPr>
        <p:spPr>
          <a:xfrm>
            <a:off x="320040" y="246888"/>
            <a:ext cx="54864" cy="42062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5">
            <a:extLst>
              <a:ext uri="{FF2B5EF4-FFF2-40B4-BE49-F238E27FC236}">
                <a16:creationId xmlns:a16="http://schemas.microsoft.com/office/drawing/2014/main" id="{AE47E608-61A8-4C4D-B19C-FED23375D750}"/>
              </a:ext>
            </a:extLst>
          </p:cNvPr>
          <p:cNvSpPr>
            <a:spLocks noGrp="1"/>
          </p:cNvSpPr>
          <p:nvPr/>
        </p:nvSpPr>
        <p:spPr>
          <a:xfrm>
            <a:off x="457200" y="201168"/>
            <a:ext cx="8366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SFT снизил метрики — возможные гипотезы</a:t>
            </a:r>
          </a:p>
        </p:txBody>
      </p:sp>
      <p:sp>
        <p:nvSpPr>
          <p:cNvPr id="305" name="Google Shape;305;p25">
            <a:extLst>
              <a:ext uri="{FF2B5EF4-FFF2-40B4-BE49-F238E27FC236}">
                <a16:creationId xmlns:a16="http://schemas.microsoft.com/office/drawing/2014/main" id="{0F657F51-79B2-4BE6-9657-D6217A53A7B3}"/>
              </a:ext>
            </a:extLst>
          </p:cNvPr>
          <p:cNvSpPr>
            <a:spLocks noGrp="1"/>
          </p:cNvSpPr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AAA_VLM · 2026</a:t>
            </a:r>
          </a:p>
        </p:txBody>
      </p:sp>
      <p:sp>
        <p:nvSpPr>
          <p:cNvPr id="306" name="Google Shape;306;p25">
            <a:extLst>
              <a:ext uri="{FF2B5EF4-FFF2-40B4-BE49-F238E27FC236}">
                <a16:creationId xmlns:a16="http://schemas.microsoft.com/office/drawing/2014/main" id="{8E9746EA-90A1-4DE4-9A44-65D224460D38}"/>
              </a:ext>
            </a:extLst>
          </p:cNvPr>
          <p:cNvSpPr>
            <a:spLocks noGrp="1"/>
          </p:cNvSpPr>
          <p:nvPr/>
        </p:nvSpPr>
        <p:spPr>
          <a:xfrm>
            <a:off x="365760" y="80467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D7A0A"/>
                </a:solidFill>
                <a:latin typeface="Calibri"/>
                <a:ea typeface="Calibri"/>
                <a:cs typeface="Calibri"/>
              </a:rPr>
              <a:t>Vanilla VLM</a:t>
            </a:r>
          </a:p>
        </p:txBody>
      </p:sp>
      <p:sp>
        <p:nvSpPr>
          <p:cNvPr id="307" name="Google Shape;307;p25">
            <a:extLst>
              <a:ext uri="{FF2B5EF4-FFF2-40B4-BE49-F238E27FC236}">
                <a16:creationId xmlns:a16="http://schemas.microsoft.com/office/drawing/2014/main" id="{5F04CC8D-2A2A-4CB7-8C44-38E8A0EA1358}"/>
              </a:ext>
            </a:extLst>
          </p:cNvPr>
          <p:cNvSpPr>
            <a:spLocks noGrp="1"/>
          </p:cNvSpPr>
          <p:nvPr/>
        </p:nvSpPr>
        <p:spPr>
          <a:xfrm>
            <a:off x="365760" y="105156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3D7A0A"/>
                </a:solidFill>
                <a:latin typeface="Calibri"/>
                <a:ea typeface="Calibri"/>
                <a:cs typeface="Calibri"/>
              </a:rPr>
              <a:t>0.</a:t>
            </a:r>
            <a:r>
              <a:rPr lang="en-US" sz="3600" b="1" i="0" u="none" cap="none">
                <a:solidFill>
                  <a:srgbClr val="3D7A0A"/>
                </a:solidFill>
                <a:latin typeface="Calibri"/>
                <a:ea typeface="Calibri"/>
                <a:cs typeface="Calibri"/>
              </a:rPr>
              <a:t>69</a:t>
            </a:r>
            <a:endParaRPr sz="3600" b="1" i="0" u="none" cap="none">
              <a:solidFill>
                <a:srgbClr val="3D7A0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8" name="Google Shape;308;p25">
            <a:extLst>
              <a:ext uri="{FF2B5EF4-FFF2-40B4-BE49-F238E27FC236}">
                <a16:creationId xmlns:a16="http://schemas.microsoft.com/office/drawing/2014/main" id="{9469D83E-9C1C-4123-9E3E-E57B311DBE71}"/>
              </a:ext>
            </a:extLst>
          </p:cNvPr>
          <p:cNvSpPr>
            <a:spLocks noGrp="1"/>
          </p:cNvSpPr>
          <p:nvPr/>
        </p:nvSpPr>
        <p:spPr>
          <a:xfrm>
            <a:off x="2834640" y="10972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09" name="Google Shape;309;p25">
            <a:extLst>
              <a:ext uri="{FF2B5EF4-FFF2-40B4-BE49-F238E27FC236}">
                <a16:creationId xmlns:a16="http://schemas.microsoft.com/office/drawing/2014/main" id="{EC84D648-FE69-411C-95BE-12FAE1D6D55B}"/>
              </a:ext>
            </a:extLst>
          </p:cNvPr>
          <p:cNvSpPr>
            <a:spLocks noGrp="1"/>
          </p:cNvSpPr>
          <p:nvPr/>
        </p:nvSpPr>
        <p:spPr>
          <a:xfrm>
            <a:off x="3657600" y="80467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SFT VLM</a:t>
            </a:r>
          </a:p>
        </p:txBody>
      </p:sp>
      <p:sp>
        <p:nvSpPr>
          <p:cNvPr id="310" name="Google Shape;310;p25">
            <a:extLst>
              <a:ext uri="{FF2B5EF4-FFF2-40B4-BE49-F238E27FC236}">
                <a16:creationId xmlns:a16="http://schemas.microsoft.com/office/drawing/2014/main" id="{A4532787-4DBB-4E9F-A0C3-B55D4945F6B3}"/>
              </a:ext>
            </a:extLst>
          </p:cNvPr>
          <p:cNvSpPr>
            <a:spLocks noGrp="1"/>
          </p:cNvSpPr>
          <p:nvPr/>
        </p:nvSpPr>
        <p:spPr>
          <a:xfrm>
            <a:off x="3657600" y="105156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0.78</a:t>
            </a:r>
            <a:endParaRPr sz="3600" b="1" i="0" u="none" cap="none">
              <a:solidFill>
                <a:srgbClr val="F97316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11" name="Google Shape;311;p25"/>
          <p:cNvCxnSpPr/>
          <p:nvPr/>
        </p:nvCxnSpPr>
        <p:spPr>
          <a:xfrm>
            <a:off x="320040" y="1828800"/>
            <a:ext cx="8503920" cy="0"/>
          </a:xfrm>
          <a:prstGeom prst="straightConnector1">
            <a:avLst/>
          </a:prstGeom>
          <a:ln w="12700" cap="flat">
            <a:solidFill>
              <a:srgbClr val="DDE3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2" name="Google Shape;312;p25">
            <a:extLst>
              <a:ext uri="{FF2B5EF4-FFF2-40B4-BE49-F238E27FC236}">
                <a16:creationId xmlns:a16="http://schemas.microsoft.com/office/drawing/2014/main" id="{B0DA34FD-E876-476D-9EC1-F554D70BDBBC}"/>
              </a:ext>
            </a:extLst>
          </p:cNvPr>
          <p:cNvSpPr>
            <a:spLocks noGrp="1"/>
          </p:cNvSpPr>
          <p:nvPr/>
        </p:nvSpPr>
        <p:spPr>
          <a:xfrm>
            <a:off x="365760" y="1920240"/>
            <a:ext cx="84124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Точные причины неизвестны. Возможные гипотезы:</a:t>
            </a:r>
          </a:p>
        </p:txBody>
      </p:sp>
      <p:sp>
        <p:nvSpPr>
          <p:cNvPr id="313" name="Google Shape;313;p25">
            <a:extLst>
              <a:ext uri="{FF2B5EF4-FFF2-40B4-BE49-F238E27FC236}">
                <a16:creationId xmlns:a16="http://schemas.microsoft.com/office/drawing/2014/main" id="{1647B7B0-B69B-4754-A203-91C9E9CF6956}"/>
              </a:ext>
            </a:extLst>
          </p:cNvPr>
          <p:cNvSpPr>
            <a:spLocks noGrp="1"/>
          </p:cNvSpPr>
          <p:nvPr/>
        </p:nvSpPr>
        <p:spPr>
          <a:xfrm>
            <a:off x="320040" y="2596900"/>
            <a:ext cx="8503800" cy="6948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5">
            <a:extLst>
              <a:ext uri="{FF2B5EF4-FFF2-40B4-BE49-F238E27FC236}">
                <a16:creationId xmlns:a16="http://schemas.microsoft.com/office/drawing/2014/main" id="{CEC22FE3-2DF9-4408-917F-6F48E0259C49}"/>
              </a:ext>
            </a:extLst>
          </p:cNvPr>
          <p:cNvSpPr>
            <a:spLocks noGrp="1"/>
          </p:cNvSpPr>
          <p:nvPr/>
        </p:nvSpPr>
        <p:spPr>
          <a:xfrm>
            <a:off x="320040" y="2596900"/>
            <a:ext cx="54900" cy="694800"/>
          </a:xfrm>
          <a:prstGeom prst="rect">
            <a:avLst/>
          </a:prstGeom>
          <a:solidFill>
            <a:srgbClr val="F97316"/>
          </a:solidFill>
          <a:ln w="12700" cmpd="sng">
            <a:solidFill>
              <a:srgbClr val="F97316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5">
            <a:extLst>
              <a:ext uri="{FF2B5EF4-FFF2-40B4-BE49-F238E27FC236}">
                <a16:creationId xmlns:a16="http://schemas.microsoft.com/office/drawing/2014/main" id="{0DBFA1AD-DB4B-4040-A8FB-C3CCAFD69087}"/>
              </a:ext>
            </a:extLst>
          </p:cNvPr>
          <p:cNvSpPr>
            <a:spLocks noGrp="1"/>
          </p:cNvSpPr>
          <p:nvPr/>
        </p:nvSpPr>
        <p:spPr>
          <a:xfrm>
            <a:off x="502920" y="2633476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Качество обучающих данных</a:t>
            </a:r>
          </a:p>
        </p:txBody>
      </p:sp>
      <p:sp>
        <p:nvSpPr>
          <p:cNvPr id="316" name="Google Shape;316;p25">
            <a:extLst>
              <a:ext uri="{FF2B5EF4-FFF2-40B4-BE49-F238E27FC236}">
                <a16:creationId xmlns:a16="http://schemas.microsoft.com/office/drawing/2014/main" id="{962BAC68-73B9-4E1F-BF7C-4A340E1C1D7B}"/>
              </a:ext>
            </a:extLst>
          </p:cNvPr>
          <p:cNvSpPr>
            <a:spLocks noGrp="1"/>
          </p:cNvSpPr>
          <p:nvPr/>
        </p:nvSpPr>
        <p:spPr>
          <a:xfrm>
            <a:off x="502920" y="2907796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Люди пишут описания на Авито плохо — модель могла выучить нежелательные паттерны. Авторы похожей статьи на Хабре столкнулись с тем же и перегенерировали данные.</a:t>
            </a:r>
          </a:p>
        </p:txBody>
      </p:sp>
      <p:sp>
        <p:nvSpPr>
          <p:cNvPr id="317" name="Google Shape;317;p25">
            <a:extLst>
              <a:ext uri="{FF2B5EF4-FFF2-40B4-BE49-F238E27FC236}">
                <a16:creationId xmlns:a16="http://schemas.microsoft.com/office/drawing/2014/main" id="{F6DC8F7E-FA20-4519-9173-0C21E803BD50}"/>
              </a:ext>
            </a:extLst>
          </p:cNvPr>
          <p:cNvSpPr>
            <a:spLocks noGrp="1"/>
          </p:cNvSpPr>
          <p:nvPr/>
        </p:nvSpPr>
        <p:spPr>
          <a:xfrm>
            <a:off x="320090" y="3666760"/>
            <a:ext cx="8503800" cy="6948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5">
            <a:extLst>
              <a:ext uri="{FF2B5EF4-FFF2-40B4-BE49-F238E27FC236}">
                <a16:creationId xmlns:a16="http://schemas.microsoft.com/office/drawing/2014/main" id="{1EE54E1C-1CDC-4C6A-B6ED-89FE6CA42C9A}"/>
              </a:ext>
            </a:extLst>
          </p:cNvPr>
          <p:cNvSpPr>
            <a:spLocks noGrp="1"/>
          </p:cNvSpPr>
          <p:nvPr/>
        </p:nvSpPr>
        <p:spPr>
          <a:xfrm>
            <a:off x="320090" y="3666760"/>
            <a:ext cx="54900" cy="694800"/>
          </a:xfrm>
          <a:prstGeom prst="rect">
            <a:avLst/>
          </a:prstGeom>
          <a:solidFill>
            <a:srgbClr val="F97316"/>
          </a:solidFill>
          <a:ln w="12700" cmpd="sng">
            <a:solidFill>
              <a:srgbClr val="F97316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5">
            <a:extLst>
              <a:ext uri="{FF2B5EF4-FFF2-40B4-BE49-F238E27FC236}">
                <a16:creationId xmlns:a16="http://schemas.microsoft.com/office/drawing/2014/main" id="{06D9F3D2-568E-470D-91D4-CCEFDECB9648}"/>
              </a:ext>
            </a:extLst>
          </p:cNvPr>
          <p:cNvSpPr>
            <a:spLocks noGrp="1"/>
          </p:cNvSpPr>
          <p:nvPr/>
        </p:nvSpPr>
        <p:spPr>
          <a:xfrm>
            <a:off x="502970" y="3703336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Природа SFT</a:t>
            </a:r>
          </a:p>
        </p:txBody>
      </p:sp>
      <p:sp>
        <p:nvSpPr>
          <p:cNvPr id="320" name="Google Shape;320;p25">
            <a:extLst>
              <a:ext uri="{FF2B5EF4-FFF2-40B4-BE49-F238E27FC236}">
                <a16:creationId xmlns:a16="http://schemas.microsoft.com/office/drawing/2014/main" id="{A9E49F0C-D35E-432D-859A-BEC3F0BB3773}"/>
              </a:ext>
            </a:extLst>
          </p:cNvPr>
          <p:cNvSpPr>
            <a:spLocks noGrp="1"/>
          </p:cNvSpPr>
          <p:nvPr/>
        </p:nvSpPr>
        <p:spPr>
          <a:xfrm>
            <a:off x="502970" y="3977656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Модель выучила формат описаний. Но понимать, какие описание хорошие, а какие - плохие, модель так и не смогла. </a:t>
            </a:r>
          </a:p>
        </p:txBody>
      </p:sp>
    </p:spTree>
    <p:extLst>
      <p:ext uri="{BB962C8B-B14F-4D97-AF65-F5344CB8AC3E}">
        <p14:creationId xmlns:p14="http://schemas.microsoft.com/office/powerpoint/2010/main" val="1615270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>
            <a:extLst>
              <a:ext uri="{FF2B5EF4-FFF2-40B4-BE49-F238E27FC236}">
                <a16:creationId xmlns:a16="http://schemas.microsoft.com/office/drawing/2014/main" id="{EBB6ADB9-5200-499A-8B85-C0F201EEDDA4}"/>
              </a:ext>
            </a:extLst>
          </p:cNvPr>
          <p:cNvSpPr>
            <a:spLocks noGrp="1"/>
          </p:cNvSpPr>
          <p:nvPr/>
        </p:nvSpPr>
        <p:spPr>
          <a:xfrm>
            <a:off x="160050" y="4770099"/>
            <a:ext cx="88239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34" b="0" i="0" u="none" cap="none">
                <a:solidFill>
                  <a:srgbClr val="6B7FA8"/>
                </a:solidFill>
                <a:latin typeface="Calibri"/>
                <a:ea typeface="Calibri"/>
                <a:cs typeface="Calibri"/>
              </a:rPr>
              <a:t>AAA_VLM · 2026</a:t>
            </a:r>
          </a:p>
        </p:txBody>
      </p:sp>
      <p:sp>
        <p:nvSpPr>
          <p:cNvPr id="327" name="Google Shape;327;p26">
            <a:extLst>
              <a:ext uri="{FF2B5EF4-FFF2-40B4-BE49-F238E27FC236}">
                <a16:creationId xmlns:a16="http://schemas.microsoft.com/office/drawing/2014/main" id="{CAAA9566-BA6E-4AC7-82F2-CBB937045A71}"/>
              </a:ext>
            </a:extLst>
          </p:cNvPr>
          <p:cNvSpPr>
            <a:spLocks noGrp="1"/>
          </p:cNvSpPr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65AE7">
              <a:alpha val="14117"/>
            </a:srgbClr>
          </a:solidFill>
          <a:ln w="12700" cmpd="sng">
            <a:solidFill>
              <a:srgbClr val="065AE7">
                <a:alpha val="14117"/>
              </a:srgbClr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6">
            <a:extLst>
              <a:ext uri="{FF2B5EF4-FFF2-40B4-BE49-F238E27FC236}">
                <a16:creationId xmlns:a16="http://schemas.microsoft.com/office/drawing/2014/main" id="{B87CB92D-772F-455D-8227-A46E59D2412E}"/>
              </a:ext>
            </a:extLst>
          </p:cNvPr>
          <p:cNvSpPr>
            <a:spLocks noGrp="1"/>
          </p:cNvSpPr>
          <p:nvPr/>
        </p:nvSpPr>
        <p:spPr>
          <a:xfrm>
            <a:off x="1535858" y="164636"/>
            <a:ext cx="6072300" cy="4605600"/>
          </a:xfrm>
          <a:prstGeom prst="rect">
            <a:avLst/>
          </a:prstGeom>
          <a:solidFill>
            <a:srgbClr val="162358"/>
          </a:solidFill>
          <a:ln w="13175" cmpd="sng">
            <a:solidFill>
              <a:srgbClr val="2A4080"/>
            </a:solidFill>
            <a:prstDash val="solid"/>
          </a:ln>
          <a:effectLst>
            <a:outerShdw blurRad="105424" dist="39534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4875" tIns="94875" rIns="94875" bIns="9487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6">
            <a:extLst>
              <a:ext uri="{FF2B5EF4-FFF2-40B4-BE49-F238E27FC236}">
                <a16:creationId xmlns:a16="http://schemas.microsoft.com/office/drawing/2014/main" id="{1B33D0BC-0372-4A16-A39C-545284FCB9BA}"/>
              </a:ext>
            </a:extLst>
          </p:cNvPr>
          <p:cNvSpPr>
            <a:spLocks noGrp="1"/>
          </p:cNvSpPr>
          <p:nvPr/>
        </p:nvSpPr>
        <p:spPr>
          <a:xfrm>
            <a:off x="1535853" y="164623"/>
            <a:ext cx="6072300" cy="66300"/>
          </a:xfrm>
          <a:prstGeom prst="rect">
            <a:avLst/>
          </a:prstGeom>
          <a:solidFill>
            <a:srgbClr val="065AE7"/>
          </a:solidFill>
          <a:ln w="13175" cmpd="sng">
            <a:solidFill>
              <a:srgbClr val="065AE7"/>
            </a:solidFill>
            <a:prstDash val="solid"/>
          </a:ln>
        </p:spPr>
        <p:txBody>
          <a:bodyPr spcFirstLastPara="1" wrap="square" lIns="94875" tIns="94875" rIns="94875" bIns="9487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6">
            <a:extLst>
              <a:ext uri="{FF2B5EF4-FFF2-40B4-BE49-F238E27FC236}">
                <a16:creationId xmlns:a16="http://schemas.microsoft.com/office/drawing/2014/main" id="{0DDCFDC0-8FE2-4FB0-9865-E9B7182FEB61}"/>
              </a:ext>
            </a:extLst>
          </p:cNvPr>
          <p:cNvSpPr>
            <a:spLocks noGrp="1"/>
          </p:cNvSpPr>
          <p:nvPr/>
        </p:nvSpPr>
        <p:spPr>
          <a:xfrm>
            <a:off x="1725615" y="287969"/>
            <a:ext cx="56928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83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Демо-сервис</a:t>
            </a:r>
          </a:p>
        </p:txBody>
      </p:sp>
      <p:sp>
        <p:nvSpPr>
          <p:cNvPr id="331" name="Google Shape;331;p26">
            <a:extLst>
              <a:ext uri="{FF2B5EF4-FFF2-40B4-BE49-F238E27FC236}">
                <a16:creationId xmlns:a16="http://schemas.microsoft.com/office/drawing/2014/main" id="{7347C75A-67B9-4CA1-8749-F8DC1ED18FC0}"/>
              </a:ext>
            </a:extLst>
          </p:cNvPr>
          <p:cNvSpPr>
            <a:spLocks noGrp="1"/>
          </p:cNvSpPr>
          <p:nvPr/>
        </p:nvSpPr>
        <p:spPr>
          <a:xfrm>
            <a:off x="1725590" y="866732"/>
            <a:ext cx="5692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Бэкенд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реализован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на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FastAPI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, VLM 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развернута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через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vllm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Фронтенд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реализован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через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 React + Vite. 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Весь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проект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поднимается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через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 docker-</a:t>
            </a:r>
            <a:r>
              <a:rPr sz="1349" dirty="0" err="1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контейнер</a:t>
            </a:r>
            <a:r>
              <a:rPr sz="1349" dirty="0">
                <a:solidFill>
                  <a:srgbClr val="8AACF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332" name="Google Shape;332;p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175" y="1863475"/>
            <a:ext cx="5055644" cy="2732400"/>
          </a:xfrm>
          <a:prstGeom prst="rect">
            <a:avLst/>
          </a:prstGeom>
          <a:ln w="19775" cap="flat" cmpd="sng">
            <a:solidFill>
              <a:srgbClr val="3A5090"/>
            </a:solidFill>
            <a:prstDash val="dash"/>
            <a:round/>
          </a:ln>
        </p:spPr>
      </p:pic>
    </p:spTree>
    <p:extLst>
      <p:ext uri="{BB962C8B-B14F-4D97-AF65-F5344CB8AC3E}">
        <p14:creationId xmlns:p14="http://schemas.microsoft.com/office/powerpoint/2010/main" val="110220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-background">
            <a:extLst>
              <a:ext uri="{FF2B5EF4-FFF2-40B4-BE49-F238E27FC236}">
                <a16:creationId xmlns:a16="http://schemas.microsoft.com/office/drawing/2014/main" id="{0B104507-1B4B-4393-AB2B-03305522FA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title-marker">
            <a:extLst>
              <a:ext uri="{FF2B5EF4-FFF2-40B4-BE49-F238E27FC236}">
                <a16:creationId xmlns:a16="http://schemas.microsoft.com/office/drawing/2014/main" id="{3E8BF10B-9359-414C-819F-6A3A7FEA82AA}"/>
              </a:ext>
            </a:extLst>
          </p:cNvPr>
          <p:cNvSpPr>
            <a:spLocks noGrp="1"/>
          </p:cNvSpPr>
          <p:nvPr/>
        </p:nvSpPr>
        <p:spPr>
          <a:xfrm>
            <a:off x="320040" y="246888"/>
            <a:ext cx="54864" cy="420624"/>
          </a:xfrm>
          <a:prstGeom prst="rect">
            <a:avLst/>
          </a:prstGeom>
          <a:solidFill>
            <a:srgbClr val="065AE7"/>
          </a:solidFill>
          <a:ln w="12668">
            <a:solidFill>
              <a:srgbClr val="065A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9942F64-48D2-434E-8102-D220EED05356}"/>
              </a:ext>
            </a:extLst>
          </p:cNvPr>
          <p:cNvSpPr>
            <a:spLocks noGrp="1"/>
          </p:cNvSpPr>
          <p:nvPr/>
        </p:nvSpPr>
        <p:spPr>
          <a:xfrm>
            <a:off x="457200" y="201168"/>
            <a:ext cx="8366760" cy="51206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300" b="1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23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Системные требования и нагрузка</a:t>
            </a:r>
          </a:p>
        </p:txBody>
      </p:sp>
      <p:sp>
        <p:nvSpPr>
          <p:cNvPr id="4" name="card-01-body">
            <a:extLst>
              <a:ext uri="{FF2B5EF4-FFF2-40B4-BE49-F238E27FC236}">
                <a16:creationId xmlns:a16="http://schemas.microsoft.com/office/drawing/2014/main" id="{542D9658-2CCA-41F3-9494-9FCD982F3C2C}"/>
              </a:ext>
            </a:extLst>
          </p:cNvPr>
          <p:cNvSpPr>
            <a:spLocks noGrp="1"/>
          </p:cNvSpPr>
          <p:nvPr/>
        </p:nvSpPr>
        <p:spPr>
          <a:xfrm>
            <a:off x="320040" y="914400"/>
            <a:ext cx="2697480" cy="3676650"/>
          </a:xfrm>
          <a:prstGeom prst="rect">
            <a:avLst/>
          </a:prstGeom>
          <a:solidFill>
            <a:srgbClr val="FFFFFF"/>
          </a:solidFill>
          <a:ln w="12668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card-01-bar">
            <a:extLst>
              <a:ext uri="{FF2B5EF4-FFF2-40B4-BE49-F238E27FC236}">
                <a16:creationId xmlns:a16="http://schemas.microsoft.com/office/drawing/2014/main" id="{FCC3F769-D37C-47B4-8201-F4E0DC4157AC}"/>
              </a:ext>
            </a:extLst>
          </p:cNvPr>
          <p:cNvSpPr>
            <a:spLocks noGrp="1"/>
          </p:cNvSpPr>
          <p:nvPr/>
        </p:nvSpPr>
        <p:spPr>
          <a:xfrm>
            <a:off x="320040" y="914400"/>
            <a:ext cx="2697480" cy="64008"/>
          </a:xfrm>
          <a:prstGeom prst="rect">
            <a:avLst/>
          </a:prstGeom>
          <a:solidFill>
            <a:srgbClr val="065AE7"/>
          </a:solidFill>
          <a:ln w="12668">
            <a:solidFill>
              <a:srgbClr val="065A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card-01-num">
            <a:extLst>
              <a:ext uri="{FF2B5EF4-FFF2-40B4-BE49-F238E27FC236}">
                <a16:creationId xmlns:a16="http://schemas.microsoft.com/office/drawing/2014/main" id="{B3DC2771-E232-4784-8C0A-99DE076BC4F0}"/>
              </a:ext>
            </a:extLst>
          </p:cNvPr>
          <p:cNvSpPr>
            <a:spLocks noGrp="1"/>
          </p:cNvSpPr>
          <p:nvPr/>
        </p:nvSpPr>
        <p:spPr>
          <a:xfrm>
            <a:off x="491490" y="1123950"/>
            <a:ext cx="590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065AE7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card-01-title">
            <a:extLst>
              <a:ext uri="{FF2B5EF4-FFF2-40B4-BE49-F238E27FC236}">
                <a16:creationId xmlns:a16="http://schemas.microsoft.com/office/drawing/2014/main" id="{9FBEFFFE-DA8C-4B05-8FBE-BB3A7005629D}"/>
              </a:ext>
            </a:extLst>
          </p:cNvPr>
          <p:cNvSpPr>
            <a:spLocks noGrp="1"/>
          </p:cNvSpPr>
          <p:nvPr/>
        </p:nvSpPr>
        <p:spPr>
          <a:xfrm>
            <a:off x="1158240" y="1133475"/>
            <a:ext cx="1676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Требования к VRAM</a:t>
            </a:r>
          </a:p>
        </p:txBody>
      </p:sp>
      <p:cxnSp>
        <p:nvCxnSpPr>
          <p:cNvPr id="8" name="card-01-rule"/>
          <p:cNvCxnSpPr/>
          <p:nvPr/>
        </p:nvCxnSpPr>
        <p:spPr>
          <a:xfrm>
            <a:off x="510540" y="1714500"/>
            <a:ext cx="2316480" cy="0"/>
          </a:xfrm>
          <a:prstGeom prst="straightConnector1">
            <a:avLst/>
          </a:prstGeom>
          <a:ln w="12668">
            <a:solidFill>
              <a:srgbClr val="DDE3EF"/>
            </a:solidFill>
            <a:prstDash val="solid"/>
          </a:ln>
        </p:spPr>
      </p:cxnSp>
      <p:sp>
        <p:nvSpPr>
          <p:cNvPr id="9" name="card-01-metric">
            <a:extLst>
              <a:ext uri="{FF2B5EF4-FFF2-40B4-BE49-F238E27FC236}">
                <a16:creationId xmlns:a16="http://schemas.microsoft.com/office/drawing/2014/main" id="{17D744C2-A892-4079-89FA-7EBD6D5116AA}"/>
              </a:ext>
            </a:extLst>
          </p:cNvPr>
          <p:cNvSpPr>
            <a:spLocks noGrp="1"/>
          </p:cNvSpPr>
          <p:nvPr/>
        </p:nvSpPr>
        <p:spPr>
          <a:xfrm>
            <a:off x="529590" y="1905000"/>
            <a:ext cx="227838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065AE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до 11.0 / 12 GB</a:t>
            </a:r>
          </a:p>
        </p:txBody>
      </p:sp>
      <p:sp>
        <p:nvSpPr>
          <p:cNvPr id="10" name="card-01-metric-note">
            <a:extLst>
              <a:ext uri="{FF2B5EF4-FFF2-40B4-BE49-F238E27FC236}">
                <a16:creationId xmlns:a16="http://schemas.microsoft.com/office/drawing/2014/main" id="{73BE111D-2DBC-498D-8E5E-87F3806172FE}"/>
              </a:ext>
            </a:extLst>
          </p:cNvPr>
          <p:cNvSpPr>
            <a:spLocks noGrp="1"/>
          </p:cNvSpPr>
          <p:nvPr/>
        </p:nvSpPr>
        <p:spPr>
          <a:xfrm>
            <a:off x="529590" y="2352675"/>
            <a:ext cx="227838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пик на stress-прогоне</a:t>
            </a:r>
          </a:p>
        </p:txBody>
      </p:sp>
      <p:sp>
        <p:nvSpPr>
          <p:cNvPr id="11" name="card-01-bullets">
            <a:extLst>
              <a:ext uri="{FF2B5EF4-FFF2-40B4-BE49-F238E27FC236}">
                <a16:creationId xmlns:a16="http://schemas.microsoft.com/office/drawing/2014/main" id="{04DC2766-A859-43DE-9CF8-77DBBFD2A2A7}"/>
              </a:ext>
            </a:extLst>
          </p:cNvPr>
          <p:cNvSpPr>
            <a:spLocks noGrp="1"/>
          </p:cNvSpPr>
          <p:nvPr/>
        </p:nvSpPr>
        <p:spPr>
          <a:xfrm>
            <a:off x="548640" y="2876550"/>
            <a:ext cx="22402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рекомендуемый запас: 12 GB VRAM</a:t>
            </a:r>
          </a:p>
          <a:p>
            <a:pPr algn="l">
              <a:defRPr sz="1088" b="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RTX 3060 12 GB тянет нагрузку</a:t>
            </a:r>
          </a:p>
          <a:p>
            <a:pPr algn="l">
              <a:defRPr sz="1088" b="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Docker GPU support обязателен</a:t>
            </a:r>
          </a:p>
          <a:p>
            <a:pPr algn="l">
              <a:defRPr sz="1088" b="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Qwen3-VL-4B в 4-bit bitsandbytes</a:t>
            </a:r>
          </a:p>
        </p:txBody>
      </p:sp>
      <p:sp>
        <p:nvSpPr>
          <p:cNvPr id="12" name="card-02-body">
            <a:extLst>
              <a:ext uri="{FF2B5EF4-FFF2-40B4-BE49-F238E27FC236}">
                <a16:creationId xmlns:a16="http://schemas.microsoft.com/office/drawing/2014/main" id="{5F5F8A35-20B4-4C4C-A2A4-E0B529908F5F}"/>
              </a:ext>
            </a:extLst>
          </p:cNvPr>
          <p:cNvSpPr>
            <a:spLocks noGrp="1"/>
          </p:cNvSpPr>
          <p:nvPr/>
        </p:nvSpPr>
        <p:spPr>
          <a:xfrm>
            <a:off x="3200400" y="914400"/>
            <a:ext cx="2697480" cy="3676650"/>
          </a:xfrm>
          <a:prstGeom prst="rect">
            <a:avLst/>
          </a:prstGeom>
          <a:solidFill>
            <a:srgbClr val="FFFFFF"/>
          </a:solidFill>
          <a:ln w="12668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card-02-bar">
            <a:extLst>
              <a:ext uri="{FF2B5EF4-FFF2-40B4-BE49-F238E27FC236}">
                <a16:creationId xmlns:a16="http://schemas.microsoft.com/office/drawing/2014/main" id="{10401B18-1784-4673-B96D-3AC74B067B9F}"/>
              </a:ext>
            </a:extLst>
          </p:cNvPr>
          <p:cNvSpPr>
            <a:spLocks noGrp="1"/>
          </p:cNvSpPr>
          <p:nvPr/>
        </p:nvSpPr>
        <p:spPr>
          <a:xfrm>
            <a:off x="3200400" y="914400"/>
            <a:ext cx="2697480" cy="64008"/>
          </a:xfrm>
          <a:prstGeom prst="rect">
            <a:avLst/>
          </a:prstGeom>
          <a:solidFill>
            <a:srgbClr val="3D7A0A"/>
          </a:solidFill>
          <a:ln w="12668">
            <a:solidFill>
              <a:srgbClr val="3D7A0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card-02-num">
            <a:extLst>
              <a:ext uri="{FF2B5EF4-FFF2-40B4-BE49-F238E27FC236}">
                <a16:creationId xmlns:a16="http://schemas.microsoft.com/office/drawing/2014/main" id="{1251161C-BCEB-497F-A291-E52D70FBF10F}"/>
              </a:ext>
            </a:extLst>
          </p:cNvPr>
          <p:cNvSpPr>
            <a:spLocks noGrp="1"/>
          </p:cNvSpPr>
          <p:nvPr/>
        </p:nvSpPr>
        <p:spPr>
          <a:xfrm>
            <a:off x="3371850" y="1123950"/>
            <a:ext cx="590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3D7A0A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3D7A0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5" name="card-02-title">
            <a:extLst>
              <a:ext uri="{FF2B5EF4-FFF2-40B4-BE49-F238E27FC236}">
                <a16:creationId xmlns:a16="http://schemas.microsoft.com/office/drawing/2014/main" id="{873F0C21-86AA-46F2-BA15-5DC519AEDB84}"/>
              </a:ext>
            </a:extLst>
          </p:cNvPr>
          <p:cNvSpPr>
            <a:spLocks noGrp="1"/>
          </p:cNvSpPr>
          <p:nvPr/>
        </p:nvSpPr>
        <p:spPr>
          <a:xfrm>
            <a:off x="4038600" y="1133475"/>
            <a:ext cx="1676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Производительность</a:t>
            </a:r>
          </a:p>
        </p:txBody>
      </p:sp>
      <p:cxnSp>
        <p:nvCxnSpPr>
          <p:cNvPr id="16" name="card-02-rule"/>
          <p:cNvCxnSpPr/>
          <p:nvPr/>
        </p:nvCxnSpPr>
        <p:spPr>
          <a:xfrm>
            <a:off x="3390900" y="1714500"/>
            <a:ext cx="2316480" cy="0"/>
          </a:xfrm>
          <a:prstGeom prst="straightConnector1">
            <a:avLst/>
          </a:prstGeom>
          <a:ln w="12668">
            <a:solidFill>
              <a:srgbClr val="DDE3EF"/>
            </a:solidFill>
            <a:prstDash val="solid"/>
          </a:ln>
        </p:spPr>
      </p:cxnSp>
      <p:sp>
        <p:nvSpPr>
          <p:cNvPr id="17" name="card-02-metric">
            <a:extLst>
              <a:ext uri="{FF2B5EF4-FFF2-40B4-BE49-F238E27FC236}">
                <a16:creationId xmlns:a16="http://schemas.microsoft.com/office/drawing/2014/main" id="{D784DAA6-7161-494C-8FCC-237CB26FF487}"/>
              </a:ext>
            </a:extLst>
          </p:cNvPr>
          <p:cNvSpPr>
            <a:spLocks noGrp="1"/>
          </p:cNvSpPr>
          <p:nvPr/>
        </p:nvSpPr>
        <p:spPr>
          <a:xfrm>
            <a:off x="3409950" y="1905000"/>
            <a:ext cx="227838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3D7A0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3D7A0A"/>
                </a:solidFill>
                <a:latin typeface="Calibri"/>
                <a:ea typeface="Calibri"/>
                <a:cs typeface="Calibri"/>
              </a:rPr>
              <a:t>p95: 3.4-5.7 с</a:t>
            </a:r>
          </a:p>
        </p:txBody>
      </p:sp>
      <p:sp>
        <p:nvSpPr>
          <p:cNvPr id="18" name="card-02-metric-note">
            <a:extLst>
              <a:ext uri="{FF2B5EF4-FFF2-40B4-BE49-F238E27FC236}">
                <a16:creationId xmlns:a16="http://schemas.microsoft.com/office/drawing/2014/main" id="{0A71D1FA-7EE1-4470-AB1C-78461EB5BBB6}"/>
              </a:ext>
            </a:extLst>
          </p:cNvPr>
          <p:cNvSpPr>
            <a:spLocks noGrp="1"/>
          </p:cNvSpPr>
          <p:nvPr/>
        </p:nvSpPr>
        <p:spPr>
          <a:xfrm>
            <a:off x="3409950" y="2352675"/>
            <a:ext cx="227838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на 2-4 одновременных запросах</a:t>
            </a:r>
          </a:p>
        </p:txBody>
      </p:sp>
      <p:sp>
        <p:nvSpPr>
          <p:cNvPr id="19" name="card-02-bullets">
            <a:extLst>
              <a:ext uri="{FF2B5EF4-FFF2-40B4-BE49-F238E27FC236}">
                <a16:creationId xmlns:a16="http://schemas.microsoft.com/office/drawing/2014/main" id="{45E89C96-2CB7-4D2B-BACA-213A25C6F2C9}"/>
              </a:ext>
            </a:extLst>
          </p:cNvPr>
          <p:cNvSpPr>
            <a:spLocks noGrp="1"/>
          </p:cNvSpPr>
          <p:nvPr/>
        </p:nvSpPr>
        <p:spPr>
          <a:xfrm>
            <a:off x="3429000" y="2876550"/>
            <a:ext cx="22402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throughput около 0.75 req/s</a:t>
            </a:r>
          </a:p>
          <a:p>
            <a:pPr algn="l">
              <a:defRPr sz="1088" b="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интерактивный режим: 1-4 запроса</a:t>
            </a:r>
          </a:p>
          <a:p>
            <a:pPr algn="l">
              <a:defRPr sz="1088" b="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max-num-seqs=1 ограничивает рост RPS</a:t>
            </a:r>
          </a:p>
        </p:txBody>
      </p:sp>
      <p:sp>
        <p:nvSpPr>
          <p:cNvPr id="20" name="card-03-body">
            <a:extLst>
              <a:ext uri="{FF2B5EF4-FFF2-40B4-BE49-F238E27FC236}">
                <a16:creationId xmlns:a16="http://schemas.microsoft.com/office/drawing/2014/main" id="{DD71CACC-237E-476F-A83C-4E245D6443C6}"/>
              </a:ext>
            </a:extLst>
          </p:cNvPr>
          <p:cNvSpPr>
            <a:spLocks noGrp="1"/>
          </p:cNvSpPr>
          <p:nvPr/>
        </p:nvSpPr>
        <p:spPr>
          <a:xfrm>
            <a:off x="6080760" y="914400"/>
            <a:ext cx="2697480" cy="3676650"/>
          </a:xfrm>
          <a:prstGeom prst="rect">
            <a:avLst/>
          </a:prstGeom>
          <a:solidFill>
            <a:srgbClr val="FFFFFF"/>
          </a:solidFill>
          <a:ln w="12668">
            <a:solidFill>
              <a:srgbClr val="DDE3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card-03-bar">
            <a:extLst>
              <a:ext uri="{FF2B5EF4-FFF2-40B4-BE49-F238E27FC236}">
                <a16:creationId xmlns:a16="http://schemas.microsoft.com/office/drawing/2014/main" id="{E38C0EFC-919B-46E2-8DA9-E80B7A41B2E9}"/>
              </a:ext>
            </a:extLst>
          </p:cNvPr>
          <p:cNvSpPr>
            <a:spLocks noGrp="1"/>
          </p:cNvSpPr>
          <p:nvPr/>
        </p:nvSpPr>
        <p:spPr>
          <a:xfrm>
            <a:off x="6080760" y="914400"/>
            <a:ext cx="2697480" cy="64008"/>
          </a:xfrm>
          <a:prstGeom prst="rect">
            <a:avLst/>
          </a:prstGeom>
          <a:solidFill>
            <a:srgbClr val="F59E0B"/>
          </a:solidFill>
          <a:ln w="12668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card-03-num">
            <a:extLst>
              <a:ext uri="{FF2B5EF4-FFF2-40B4-BE49-F238E27FC236}">
                <a16:creationId xmlns:a16="http://schemas.microsoft.com/office/drawing/2014/main" id="{511DEB11-8D59-4A5D-AEE0-9ECB61F26C18}"/>
              </a:ext>
            </a:extLst>
          </p:cNvPr>
          <p:cNvSpPr>
            <a:spLocks noGrp="1"/>
          </p:cNvSpPr>
          <p:nvPr/>
        </p:nvSpPr>
        <p:spPr>
          <a:xfrm>
            <a:off x="6252210" y="1123950"/>
            <a:ext cx="590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550" b="1">
                <a:solidFill>
                  <a:srgbClr val="F59E0B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card-03-title">
            <a:extLst>
              <a:ext uri="{FF2B5EF4-FFF2-40B4-BE49-F238E27FC236}">
                <a16:creationId xmlns:a16="http://schemas.microsoft.com/office/drawing/2014/main" id="{2ED65E55-F36E-4B85-A960-E027F449C66C}"/>
              </a:ext>
            </a:extLst>
          </p:cNvPr>
          <p:cNvSpPr>
            <a:spLocks noGrp="1"/>
          </p:cNvSpPr>
          <p:nvPr/>
        </p:nvSpPr>
        <p:spPr>
          <a:xfrm>
            <a:off x="6918960" y="1133475"/>
            <a:ext cx="1676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Нагрузочный тест</a:t>
            </a:r>
          </a:p>
        </p:txBody>
      </p:sp>
      <p:cxnSp>
        <p:nvCxnSpPr>
          <p:cNvPr id="24" name="card-03-rule"/>
          <p:cNvCxnSpPr/>
          <p:nvPr/>
        </p:nvCxnSpPr>
        <p:spPr>
          <a:xfrm>
            <a:off x="6271260" y="1714500"/>
            <a:ext cx="2316480" cy="0"/>
          </a:xfrm>
          <a:prstGeom prst="straightConnector1">
            <a:avLst/>
          </a:prstGeom>
          <a:ln w="12668">
            <a:solidFill>
              <a:srgbClr val="DDE3EF"/>
            </a:solidFill>
            <a:prstDash val="solid"/>
          </a:ln>
        </p:spPr>
      </p:cxnSp>
      <p:sp>
        <p:nvSpPr>
          <p:cNvPr id="25" name="card-03-metric">
            <a:extLst>
              <a:ext uri="{FF2B5EF4-FFF2-40B4-BE49-F238E27FC236}">
                <a16:creationId xmlns:a16="http://schemas.microsoft.com/office/drawing/2014/main" id="{3B4D81E5-86AD-4B85-AE08-ED563E82056A}"/>
              </a:ext>
            </a:extLst>
          </p:cNvPr>
          <p:cNvSpPr>
            <a:spLocks noGrp="1"/>
          </p:cNvSpPr>
          <p:nvPr/>
        </p:nvSpPr>
        <p:spPr>
          <a:xfrm>
            <a:off x="6290310" y="1905000"/>
            <a:ext cx="227838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59E0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64 запроса</a:t>
            </a:r>
          </a:p>
        </p:txBody>
      </p:sp>
      <p:sp>
        <p:nvSpPr>
          <p:cNvPr id="26" name="card-03-metric-note">
            <a:extLst>
              <a:ext uri="{FF2B5EF4-FFF2-40B4-BE49-F238E27FC236}">
                <a16:creationId xmlns:a16="http://schemas.microsoft.com/office/drawing/2014/main" id="{AC75833B-2151-4D5C-825F-2A6F7B898B11}"/>
              </a:ext>
            </a:extLst>
          </p:cNvPr>
          <p:cNvSpPr>
            <a:spLocks noGrp="1"/>
          </p:cNvSpPr>
          <p:nvPr/>
        </p:nvSpPr>
        <p:spPr>
          <a:xfrm>
            <a:off x="6290310" y="2352675"/>
            <a:ext cx="227838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без ошибок при timeout 300 с</a:t>
            </a:r>
          </a:p>
        </p:txBody>
      </p:sp>
      <p:sp>
        <p:nvSpPr>
          <p:cNvPr id="27" name="card-03-bullets">
            <a:extLst>
              <a:ext uri="{FF2B5EF4-FFF2-40B4-BE49-F238E27FC236}">
                <a16:creationId xmlns:a16="http://schemas.microsoft.com/office/drawing/2014/main" id="{B62A480B-B5DA-41BA-A5BC-E0DA5B4575BD}"/>
              </a:ext>
            </a:extLst>
          </p:cNvPr>
          <p:cNvSpPr>
            <a:spLocks noGrp="1"/>
          </p:cNvSpPr>
          <p:nvPr/>
        </p:nvSpPr>
        <p:spPr>
          <a:xfrm>
            <a:off x="6309360" y="2876550"/>
            <a:ext cx="224028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GPU utilization: до 100%</a:t>
            </a:r>
          </a:p>
          <a:p>
            <a:pPr algn="l">
              <a:defRPr sz="1088" b="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power peak: около 170 W</a:t>
            </a:r>
          </a:p>
          <a:p>
            <a:pPr algn="l">
              <a:defRPr sz="1088" b="0">
                <a:solidFill>
                  <a:srgbClr val="1A1A2E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• практический лимит задаёт очередь vLLM</a:t>
            </a:r>
          </a:p>
        </p:txBody>
      </p:sp>
      <p:sp>
        <p:nvSpPr>
          <p:cNvPr id="28" name="footer">
            <a:extLst>
              <a:ext uri="{FF2B5EF4-FFF2-40B4-BE49-F238E27FC236}">
                <a16:creationId xmlns:a16="http://schemas.microsoft.com/office/drawing/2014/main" id="{4023F203-DD1A-44BB-A296-AEBAF3128F27}"/>
              </a:ext>
            </a:extLst>
          </p:cNvPr>
          <p:cNvSpPr>
            <a:spLocks noGrp="1"/>
          </p:cNvSpPr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AAA_VLM · 2026</a:t>
            </a:r>
          </a:p>
        </p:txBody>
      </p:sp>
    </p:spTree>
    <p:extLst>
      <p:ext uri="{BB962C8B-B14F-4D97-AF65-F5344CB8AC3E}">
        <p14:creationId xmlns:p14="http://schemas.microsoft.com/office/powerpoint/2010/main" val="677324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>
            <a:extLst>
              <a:ext uri="{FF2B5EF4-FFF2-40B4-BE49-F238E27FC236}">
                <a16:creationId xmlns:a16="http://schemas.microsoft.com/office/drawing/2014/main" id="{57D6FA4E-E574-48DC-8A4A-F232A7408470}"/>
              </a:ext>
            </a:extLst>
          </p:cNvPr>
          <p:cNvSpPr>
            <a:spLocks noGrp="1"/>
          </p:cNvSpPr>
          <p:nvPr/>
        </p:nvSpPr>
        <p:spPr>
          <a:xfrm>
            <a:off x="320040" y="246888"/>
            <a:ext cx="54864" cy="420624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682D134A-C6DF-4D2E-A1B8-F27D1044700D}"/>
              </a:ext>
            </a:extLst>
          </p:cNvPr>
          <p:cNvSpPr>
            <a:spLocks noGrp="1"/>
          </p:cNvSpPr>
          <p:nvPr/>
        </p:nvSpPr>
        <p:spPr>
          <a:xfrm>
            <a:off x="457200" y="201168"/>
            <a:ext cx="83667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Планы на будущее</a:t>
            </a:r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5B9E3F74-D2BE-4CA4-BD8D-A4180A61BDC1}"/>
              </a:ext>
            </a:extLst>
          </p:cNvPr>
          <p:cNvSpPr>
            <a:spLocks noGrp="1"/>
          </p:cNvSpPr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AAA_VLM · 2026</a:t>
            </a:r>
          </a:p>
        </p:txBody>
      </p:sp>
      <p:sp>
        <p:nvSpPr>
          <p:cNvPr id="341" name="Google Shape;341;p27">
            <a:extLst>
              <a:ext uri="{FF2B5EF4-FFF2-40B4-BE49-F238E27FC236}">
                <a16:creationId xmlns:a16="http://schemas.microsoft.com/office/drawing/2014/main" id="{78057A34-DE12-4F38-8D5F-B9202F1661C6}"/>
              </a:ext>
            </a:extLst>
          </p:cNvPr>
          <p:cNvSpPr>
            <a:spLocks noGrp="1"/>
          </p:cNvSpPr>
          <p:nvPr/>
        </p:nvSpPr>
        <p:spPr>
          <a:xfrm>
            <a:off x="320040" y="804672"/>
            <a:ext cx="4160520" cy="397764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7">
            <a:extLst>
              <a:ext uri="{FF2B5EF4-FFF2-40B4-BE49-F238E27FC236}">
                <a16:creationId xmlns:a16="http://schemas.microsoft.com/office/drawing/2014/main" id="{D6D67ADF-D875-4DDF-8890-55A6431846F7}"/>
              </a:ext>
            </a:extLst>
          </p:cNvPr>
          <p:cNvSpPr>
            <a:spLocks noGrp="1"/>
          </p:cNvSpPr>
          <p:nvPr/>
        </p:nvSpPr>
        <p:spPr>
          <a:xfrm>
            <a:off x="320040" y="804672"/>
            <a:ext cx="4160520" cy="64008"/>
          </a:xfrm>
          <a:prstGeom prst="rect">
            <a:avLst/>
          </a:prstGeom>
          <a:solidFill>
            <a:srgbClr val="065AE7"/>
          </a:solidFill>
          <a:ln w="12700" cmpd="sng">
            <a:solidFill>
              <a:srgbClr val="065AE7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7">
            <a:extLst>
              <a:ext uri="{FF2B5EF4-FFF2-40B4-BE49-F238E27FC236}">
                <a16:creationId xmlns:a16="http://schemas.microsoft.com/office/drawing/2014/main" id="{02EB5C1F-19C5-472A-B43B-6FC4B502E26F}"/>
              </a:ext>
            </a:extLst>
          </p:cNvPr>
          <p:cNvSpPr>
            <a:spLocks noGrp="1"/>
          </p:cNvSpPr>
          <p:nvPr/>
        </p:nvSpPr>
        <p:spPr>
          <a:xfrm>
            <a:off x="502920" y="914400"/>
            <a:ext cx="685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65AE7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44" name="Google Shape;344;p27">
            <a:extLst>
              <a:ext uri="{FF2B5EF4-FFF2-40B4-BE49-F238E27FC236}">
                <a16:creationId xmlns:a16="http://schemas.microsoft.com/office/drawing/2014/main" id="{84C43FD9-F004-402E-BE9B-B04778B9C8EA}"/>
              </a:ext>
            </a:extLst>
          </p:cNvPr>
          <p:cNvSpPr>
            <a:spLocks noGrp="1"/>
          </p:cNvSpPr>
          <p:nvPr/>
        </p:nvSpPr>
        <p:spPr>
          <a:xfrm>
            <a:off x="1280160" y="969264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Доработка данных</a:t>
            </a:r>
          </a:p>
        </p:txBody>
      </p:sp>
      <p:cxnSp>
        <p:nvCxnSpPr>
          <p:cNvPr id="345" name="Google Shape;345;p27"/>
          <p:cNvCxnSpPr/>
          <p:nvPr/>
        </p:nvCxnSpPr>
        <p:spPr>
          <a:xfrm>
            <a:off x="502920" y="1645920"/>
            <a:ext cx="3794760" cy="0"/>
          </a:xfrm>
          <a:prstGeom prst="straightConnector1">
            <a:avLst/>
          </a:prstGeom>
          <a:ln w="12700" cap="flat">
            <a:solidFill>
              <a:srgbClr val="DDE3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6" name="Google Shape;346;p27">
            <a:extLst>
              <a:ext uri="{FF2B5EF4-FFF2-40B4-BE49-F238E27FC236}">
                <a16:creationId xmlns:a16="http://schemas.microsoft.com/office/drawing/2014/main" id="{D8E83F5C-80B3-44A2-9EBE-8E3FFE742BBA}"/>
              </a:ext>
            </a:extLst>
          </p:cNvPr>
          <p:cNvSpPr>
            <a:spLocks noGrp="1"/>
          </p:cNvSpPr>
          <p:nvPr/>
        </p:nvSpPr>
        <p:spPr>
          <a:xfrm>
            <a:off x="502920" y="1737360"/>
            <a:ext cx="384048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2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Перегенерировать описания с помощью LLM</a:t>
            </a:r>
          </a:p>
          <a:p>
            <a:pPr marL="342900" indent="-342900" algn="l">
              <a:spcBef>
                <a:spcPts val="600"/>
              </a:spcBef>
              <a:spcAft>
                <a:spcPts val="0"/>
              </a:spcAft>
              <a:buChar char="•"/>
            </a:pPr>
            <a:r>
              <a:rPr sz="12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Дополнительная очистка датасета</a:t>
            </a:r>
          </a:p>
          <a:p>
            <a:pPr marL="342900" indent="-342900" algn="l">
              <a:spcBef>
                <a:spcPts val="600"/>
              </a:spcBef>
              <a:spcAft>
                <a:spcPts val="0"/>
              </a:spcAft>
              <a:buChar char="•"/>
            </a:pPr>
            <a:r>
              <a:rPr sz="12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Добавить структурированные характеристики товаров</a:t>
            </a:r>
          </a:p>
        </p:txBody>
      </p:sp>
      <p:sp>
        <p:nvSpPr>
          <p:cNvPr id="347" name="Google Shape;347;p27">
            <a:extLst>
              <a:ext uri="{FF2B5EF4-FFF2-40B4-BE49-F238E27FC236}">
                <a16:creationId xmlns:a16="http://schemas.microsoft.com/office/drawing/2014/main" id="{C6A9F790-F4CD-44C7-A996-64B50604D44D}"/>
              </a:ext>
            </a:extLst>
          </p:cNvPr>
          <p:cNvSpPr>
            <a:spLocks noGrp="1"/>
          </p:cNvSpPr>
          <p:nvPr/>
        </p:nvSpPr>
        <p:spPr>
          <a:xfrm>
            <a:off x="4754880" y="804672"/>
            <a:ext cx="4160520" cy="397764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DDE3EF"/>
            </a:solidFill>
            <a:prstDash val="solid"/>
          </a:ln>
          <a:effectLst>
            <a:outerShdw blurRad="101600" dist="381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7">
            <a:extLst>
              <a:ext uri="{FF2B5EF4-FFF2-40B4-BE49-F238E27FC236}">
                <a16:creationId xmlns:a16="http://schemas.microsoft.com/office/drawing/2014/main" id="{0F8B9D76-620C-42E2-B95F-53F4312B3D23}"/>
              </a:ext>
            </a:extLst>
          </p:cNvPr>
          <p:cNvSpPr>
            <a:spLocks noGrp="1"/>
          </p:cNvSpPr>
          <p:nvPr/>
        </p:nvSpPr>
        <p:spPr>
          <a:xfrm>
            <a:off x="4754880" y="804672"/>
            <a:ext cx="4160520" cy="64008"/>
          </a:xfrm>
          <a:prstGeom prst="rect">
            <a:avLst/>
          </a:prstGeom>
          <a:solidFill>
            <a:srgbClr val="3D7A0A"/>
          </a:solidFill>
          <a:ln w="12700" cmpd="sng">
            <a:solidFill>
              <a:srgbClr val="3D7A0A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7">
            <a:extLst>
              <a:ext uri="{FF2B5EF4-FFF2-40B4-BE49-F238E27FC236}">
                <a16:creationId xmlns:a16="http://schemas.microsoft.com/office/drawing/2014/main" id="{6B4B98C5-8269-4B7A-A081-D3E54F52C04B}"/>
              </a:ext>
            </a:extLst>
          </p:cNvPr>
          <p:cNvSpPr>
            <a:spLocks noGrp="1"/>
          </p:cNvSpPr>
          <p:nvPr/>
        </p:nvSpPr>
        <p:spPr>
          <a:xfrm>
            <a:off x="4937760" y="914400"/>
            <a:ext cx="685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3D7A0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50" name="Google Shape;350;p27">
            <a:extLst>
              <a:ext uri="{FF2B5EF4-FFF2-40B4-BE49-F238E27FC236}">
                <a16:creationId xmlns:a16="http://schemas.microsoft.com/office/drawing/2014/main" id="{518F8AF2-DD08-4923-AE07-B90CDB90CB8A}"/>
              </a:ext>
            </a:extLst>
          </p:cNvPr>
          <p:cNvSpPr>
            <a:spLocks noGrp="1"/>
          </p:cNvSpPr>
          <p:nvPr/>
        </p:nvSpPr>
        <p:spPr>
          <a:xfrm>
            <a:off x="5715000" y="969264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Alignment вместо чистого SFT</a:t>
            </a:r>
          </a:p>
        </p:txBody>
      </p:sp>
      <p:cxnSp>
        <p:nvCxnSpPr>
          <p:cNvPr id="351" name="Google Shape;351;p27"/>
          <p:cNvCxnSpPr/>
          <p:nvPr/>
        </p:nvCxnSpPr>
        <p:spPr>
          <a:xfrm>
            <a:off x="4937760" y="1645920"/>
            <a:ext cx="3794760" cy="0"/>
          </a:xfrm>
          <a:prstGeom prst="straightConnector1">
            <a:avLst/>
          </a:prstGeom>
          <a:ln w="12700" cap="flat">
            <a:solidFill>
              <a:srgbClr val="DDE3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2" name="Google Shape;352;p27">
            <a:extLst>
              <a:ext uri="{FF2B5EF4-FFF2-40B4-BE49-F238E27FC236}">
                <a16:creationId xmlns:a16="http://schemas.microsoft.com/office/drawing/2014/main" id="{4BE4C110-1B4C-41CF-8625-300E02774DEF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84048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2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Попробовать DPO / </a:t>
            </a:r>
            <a:r>
              <a:rPr sz="12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SimPO</a:t>
            </a:r>
          </a:p>
          <a:p>
            <a:pPr marL="342900" indent="-342900" algn="l">
              <a:spcBef>
                <a:spcPts val="600"/>
              </a:spcBef>
              <a:spcAft>
                <a:spcPts val="0"/>
              </a:spcAft>
              <a:buChar char="•"/>
            </a:pPr>
            <a:r>
              <a:rPr sz="12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Обучение на предпочтениях даёт более контролируемый результат</a:t>
            </a:r>
          </a:p>
          <a:p>
            <a:pPr marL="342900" indent="-342900" algn="l">
              <a:spcBef>
                <a:spcPts val="600"/>
              </a:spcBef>
              <a:spcAft>
                <a:spcPts val="0"/>
              </a:spcAft>
              <a:buChar char="•"/>
            </a:pPr>
            <a:r>
              <a:rPr sz="1250" b="0" i="0" u="none" cap="none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Снижает риск воспроизведения нежелательных паттернов из данных</a:t>
            </a:r>
          </a:p>
        </p:txBody>
      </p:sp>
    </p:spTree>
    <p:extLst>
      <p:ext uri="{BB962C8B-B14F-4D97-AF65-F5344CB8AC3E}">
        <p14:creationId xmlns:p14="http://schemas.microsoft.com/office/powerpoint/2010/main" val="355068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8">
            <a:extLst>
              <a:ext uri="{FF2B5EF4-FFF2-40B4-BE49-F238E27FC236}">
                <a16:creationId xmlns:a16="http://schemas.microsoft.com/office/drawing/2014/main" id="{E83D3F10-28B4-4BE2-BFF8-CA90C87A1743}"/>
              </a:ext>
            </a:extLst>
          </p:cNvPr>
          <p:cNvSpPr>
            <a:spLocks noGrp="1"/>
          </p:cNvSpPr>
          <p:nvPr/>
        </p:nvSpPr>
        <p:spPr>
          <a:xfrm>
            <a:off x="7132320" y="-548640"/>
            <a:ext cx="3657600" cy="3657600"/>
          </a:xfrm>
          <a:prstGeom prst="ellipse">
            <a:avLst/>
          </a:prstGeom>
          <a:solidFill>
            <a:srgbClr val="065AE7">
              <a:alpha val="14117"/>
            </a:srgbClr>
          </a:solidFill>
          <a:ln w="12700" cmpd="sng">
            <a:solidFill>
              <a:srgbClr val="065AE7">
                <a:alpha val="14117"/>
              </a:srgbClr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8">
            <a:extLst>
              <a:ext uri="{FF2B5EF4-FFF2-40B4-BE49-F238E27FC236}">
                <a16:creationId xmlns:a16="http://schemas.microsoft.com/office/drawing/2014/main" id="{2C3569EF-2102-45F7-9C79-60D82E3EABED}"/>
              </a:ext>
            </a:extLst>
          </p:cNvPr>
          <p:cNvSpPr>
            <a:spLocks noGrp="1"/>
          </p:cNvSpPr>
          <p:nvPr/>
        </p:nvSpPr>
        <p:spPr>
          <a:xfrm>
            <a:off x="-548640" y="3474720"/>
            <a:ext cx="2743200" cy="2743200"/>
          </a:xfrm>
          <a:prstGeom prst="ellipse">
            <a:avLst/>
          </a:prstGeom>
          <a:solidFill>
            <a:srgbClr val="97E05F">
              <a:alpha val="12156"/>
            </a:srgbClr>
          </a:solidFill>
          <a:ln w="12700" cmpd="sng">
            <a:solidFill>
              <a:srgbClr val="97E05F">
                <a:alpha val="12156"/>
              </a:srgbClr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8">
            <a:extLst>
              <a:ext uri="{FF2B5EF4-FFF2-40B4-BE49-F238E27FC236}">
                <a16:creationId xmlns:a16="http://schemas.microsoft.com/office/drawing/2014/main" id="{86EA3640-EBFE-4D2D-BA40-6E59533D12C7}"/>
              </a:ext>
            </a:extLst>
          </p:cNvPr>
          <p:cNvSpPr>
            <a:spLocks noGrp="1"/>
          </p:cNvSpPr>
          <p:nvPr/>
        </p:nvSpPr>
        <p:spPr>
          <a:xfrm>
            <a:off x="548640" y="256032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Итоги</a:t>
            </a:r>
          </a:p>
        </p:txBody>
      </p:sp>
      <p:cxnSp>
        <p:nvCxnSpPr>
          <p:cNvPr id="361" name="Google Shape;361;p28"/>
          <p:cNvCxnSpPr/>
          <p:nvPr/>
        </p:nvCxnSpPr>
        <p:spPr>
          <a:xfrm>
            <a:off x="548640" y="886968"/>
            <a:ext cx="2011680" cy="0"/>
          </a:xfrm>
          <a:prstGeom prst="straightConnector1">
            <a:avLst/>
          </a:prstGeom>
          <a:ln w="25400" cap="flat">
            <a:solidFill>
              <a:srgbClr val="97E05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2" name="Google Shape;362;p28">
            <a:extLst>
              <a:ext uri="{FF2B5EF4-FFF2-40B4-BE49-F238E27FC236}">
                <a16:creationId xmlns:a16="http://schemas.microsoft.com/office/drawing/2014/main" id="{E4BD7A24-CCB9-4E59-B458-A1A94649029B}"/>
              </a:ext>
            </a:extLst>
          </p:cNvPr>
          <p:cNvSpPr>
            <a:spLocks noGrp="1"/>
          </p:cNvSpPr>
          <p:nvPr/>
        </p:nvSpPr>
        <p:spPr>
          <a:xfrm>
            <a:off x="502920" y="1005840"/>
            <a:ext cx="54864" cy="475488"/>
          </a:xfrm>
          <a:prstGeom prst="rect">
            <a:avLst/>
          </a:prstGeom>
          <a:solidFill>
            <a:srgbClr val="97E05F"/>
          </a:solidFill>
          <a:ln w="12700" cmpd="sng">
            <a:solidFill>
              <a:srgbClr val="97E05F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A100E445-628F-4137-9C8E-7F5700C09635}"/>
              </a:ext>
            </a:extLst>
          </p:cNvPr>
          <p:cNvSpPr>
            <a:spLocks noGrp="1"/>
          </p:cNvSpPr>
          <p:nvPr/>
        </p:nvSpPr>
        <p:spPr>
          <a:xfrm>
            <a:off x="685800" y="1005840"/>
            <a:ext cx="8092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Собрали</a:t>
            </a:r>
            <a:r>
              <a:rPr sz="1300" b="0" i="0" u="none" cap="none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300" b="0" i="0" u="non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очистили</a:t>
            </a:r>
            <a:r>
              <a:rPr sz="1300" b="0" i="0" u="none" cap="none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u="non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датасет</a:t>
            </a:r>
            <a:r>
              <a:rPr sz="1300" b="0" i="0" u="none" cap="none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u="non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из</a:t>
            </a:r>
            <a:r>
              <a:rPr sz="1300" b="0" i="0" u="none" cap="none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3</a:t>
            </a:r>
            <a:r>
              <a:rPr lang="ru-RU" sz="1300" b="0" i="0" u="none" cap="none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</a:t>
            </a:r>
            <a:r>
              <a:rPr sz="1300" b="0" i="0" u="none" cap="none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000 </a:t>
            </a:r>
            <a:r>
              <a:rPr sz="1300" b="0" i="0" u="non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качественных</a:t>
            </a:r>
            <a:r>
              <a:rPr sz="1300" b="0" i="0" u="none" cap="none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u="non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объявлений</a:t>
            </a:r>
            <a:r>
              <a:rPr sz="1300" b="0" i="0" u="none" cap="none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с </a:t>
            </a:r>
            <a:r>
              <a:rPr sz="1300" b="0" i="0" u="non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системой</a:t>
            </a:r>
            <a:r>
              <a:rPr sz="1300" b="0" i="0" u="none" cap="none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u="non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скоринга</a:t>
            </a:r>
            <a:endParaRPr sz="1300" b="0" i="0" u="none" cap="none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4" name="Google Shape;364;p28">
            <a:extLst>
              <a:ext uri="{FF2B5EF4-FFF2-40B4-BE49-F238E27FC236}">
                <a16:creationId xmlns:a16="http://schemas.microsoft.com/office/drawing/2014/main" id="{1BA5A370-99AC-46E2-9E97-9E76E0DB9AE9}"/>
              </a:ext>
            </a:extLst>
          </p:cNvPr>
          <p:cNvSpPr>
            <a:spLocks noGrp="1"/>
          </p:cNvSpPr>
          <p:nvPr/>
        </p:nvSpPr>
        <p:spPr>
          <a:xfrm>
            <a:off x="502920" y="1773936"/>
            <a:ext cx="54864" cy="475488"/>
          </a:xfrm>
          <a:prstGeom prst="rect">
            <a:avLst/>
          </a:prstGeom>
          <a:solidFill>
            <a:srgbClr val="97E05F"/>
          </a:solidFill>
          <a:ln w="12700" cmpd="sng">
            <a:solidFill>
              <a:srgbClr val="97E05F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8">
            <a:extLst>
              <a:ext uri="{FF2B5EF4-FFF2-40B4-BE49-F238E27FC236}">
                <a16:creationId xmlns:a16="http://schemas.microsoft.com/office/drawing/2014/main" id="{7B369FD8-0052-4160-B432-6134099B35FC}"/>
              </a:ext>
            </a:extLst>
          </p:cNvPr>
          <p:cNvSpPr>
            <a:spLocks noGrp="1"/>
          </p:cNvSpPr>
          <p:nvPr/>
        </p:nvSpPr>
        <p:spPr>
          <a:xfrm>
            <a:off x="685800" y="1773936"/>
            <a:ext cx="8092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Реализовали извлечение структурированных параметров через LLM — покрытие 99.6%</a:t>
            </a:r>
          </a:p>
        </p:txBody>
      </p:sp>
      <p:sp>
        <p:nvSpPr>
          <p:cNvPr id="366" name="Google Shape;366;p28">
            <a:extLst>
              <a:ext uri="{FF2B5EF4-FFF2-40B4-BE49-F238E27FC236}">
                <a16:creationId xmlns:a16="http://schemas.microsoft.com/office/drawing/2014/main" id="{7D67210F-5E4B-40DC-AB2A-968771F23F0D}"/>
              </a:ext>
            </a:extLst>
          </p:cNvPr>
          <p:cNvSpPr>
            <a:spLocks noGrp="1"/>
          </p:cNvSpPr>
          <p:nvPr/>
        </p:nvSpPr>
        <p:spPr>
          <a:xfrm>
            <a:off x="502920" y="2542032"/>
            <a:ext cx="54864" cy="475488"/>
          </a:xfrm>
          <a:prstGeom prst="rect">
            <a:avLst/>
          </a:prstGeom>
          <a:solidFill>
            <a:srgbClr val="97E05F"/>
          </a:solidFill>
          <a:ln w="12700" cmpd="sng">
            <a:solidFill>
              <a:srgbClr val="97E05F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8">
            <a:extLst>
              <a:ext uri="{FF2B5EF4-FFF2-40B4-BE49-F238E27FC236}">
                <a16:creationId xmlns:a16="http://schemas.microsoft.com/office/drawing/2014/main" id="{F5EE482C-A792-4968-A50C-658F3C037BDC}"/>
              </a:ext>
            </a:extLst>
          </p:cNvPr>
          <p:cNvSpPr>
            <a:spLocks noGrp="1"/>
          </p:cNvSpPr>
          <p:nvPr/>
        </p:nvSpPr>
        <p:spPr>
          <a:xfrm>
            <a:off x="685800" y="2542032"/>
            <a:ext cx="8092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Построили систему автоматической оценки с тремя LLM-судьями</a:t>
            </a:r>
          </a:p>
        </p:txBody>
      </p:sp>
      <p:sp>
        <p:nvSpPr>
          <p:cNvPr id="368" name="Google Shape;368;p28">
            <a:extLst>
              <a:ext uri="{FF2B5EF4-FFF2-40B4-BE49-F238E27FC236}">
                <a16:creationId xmlns:a16="http://schemas.microsoft.com/office/drawing/2014/main" id="{24D48BD1-B267-4CA0-BD35-F621E92155FE}"/>
              </a:ext>
            </a:extLst>
          </p:cNvPr>
          <p:cNvSpPr>
            <a:spLocks noGrp="1"/>
          </p:cNvSpPr>
          <p:nvPr/>
        </p:nvSpPr>
        <p:spPr>
          <a:xfrm>
            <a:off x="502920" y="3310128"/>
            <a:ext cx="54864" cy="475488"/>
          </a:xfrm>
          <a:prstGeom prst="rect">
            <a:avLst/>
          </a:prstGeom>
          <a:solidFill>
            <a:srgbClr val="97E05F"/>
          </a:solidFill>
          <a:ln w="12700" cmpd="sng">
            <a:solidFill>
              <a:srgbClr val="97E05F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8">
            <a:extLst>
              <a:ext uri="{FF2B5EF4-FFF2-40B4-BE49-F238E27FC236}">
                <a16:creationId xmlns:a16="http://schemas.microsoft.com/office/drawing/2014/main" id="{B029AD7E-3E7B-45AA-AFBA-5850714D14EB}"/>
              </a:ext>
            </a:extLst>
          </p:cNvPr>
          <p:cNvSpPr>
            <a:spLocks noGrp="1"/>
          </p:cNvSpPr>
          <p:nvPr/>
        </p:nvSpPr>
        <p:spPr>
          <a:xfrm>
            <a:off x="685800" y="3310128"/>
            <a:ext cx="8092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Vanilla VLM показала лучший результат среди протестированных подходов (0.78)</a:t>
            </a:r>
          </a:p>
        </p:txBody>
      </p:sp>
      <p:sp>
        <p:nvSpPr>
          <p:cNvPr id="370" name="Google Shape;370;p28">
            <a:extLst>
              <a:ext uri="{FF2B5EF4-FFF2-40B4-BE49-F238E27FC236}">
                <a16:creationId xmlns:a16="http://schemas.microsoft.com/office/drawing/2014/main" id="{E4EA0C33-1EF8-4839-A115-2B9AFA71BD3C}"/>
              </a:ext>
            </a:extLst>
          </p:cNvPr>
          <p:cNvSpPr>
            <a:spLocks noGrp="1"/>
          </p:cNvSpPr>
          <p:nvPr/>
        </p:nvSpPr>
        <p:spPr>
          <a:xfrm>
            <a:off x="502920" y="4078224"/>
            <a:ext cx="54864" cy="475488"/>
          </a:xfrm>
          <a:prstGeom prst="rect">
            <a:avLst/>
          </a:prstGeom>
          <a:solidFill>
            <a:srgbClr val="97E05F"/>
          </a:solidFill>
          <a:ln w="12700" cmpd="sng">
            <a:solidFill>
              <a:srgbClr val="97E05F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8">
            <a:extLst>
              <a:ext uri="{FF2B5EF4-FFF2-40B4-BE49-F238E27FC236}">
                <a16:creationId xmlns:a16="http://schemas.microsoft.com/office/drawing/2014/main" id="{1EE0400E-3A4C-45CA-A1F5-6F63269DC9A2}"/>
              </a:ext>
            </a:extLst>
          </p:cNvPr>
          <p:cNvSpPr>
            <a:spLocks noGrp="1"/>
          </p:cNvSpPr>
          <p:nvPr/>
        </p:nvSpPr>
        <p:spPr>
          <a:xfrm>
            <a:off x="685800" y="4078224"/>
            <a:ext cx="8092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Ключевой вывод: качество данных критично — следующий шаг: перегенерация + alignment</a:t>
            </a:r>
          </a:p>
        </p:txBody>
      </p:sp>
    </p:spTree>
    <p:extLst>
      <p:ext uri="{BB962C8B-B14F-4D97-AF65-F5344CB8AC3E}">
        <p14:creationId xmlns:p14="http://schemas.microsoft.com/office/powerpoint/2010/main" val="19072696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899</Words>
  <Application>Microsoft Macintosh PowerPoint</Application>
  <DocSecurity>0</DocSecurity>
  <PresentationFormat>Экран (16:9)</PresentationFormat>
  <Paragraphs>206</Paragraphs>
  <Slides>15</Slides>
  <Notes>15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Consolas</vt:lpstr>
      <vt:lpstr>Roboto</vt:lpstr>
      <vt:lpstr>Simple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Khayaliev Ranil</cp:lastModifiedBy>
  <cp:revision>2</cp:revision>
  <dcterms:created xsi:type="dcterms:W3CDTF">2026-06-14T08:43:59Z</dcterms:created>
  <dcterms:modified xsi:type="dcterms:W3CDTF">2026-09-14T10:36:38Z</dcterms:modified>
</cp:coreProperties>
</file>